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2" r:id="rId4"/>
    <p:sldId id="258" r:id="rId5"/>
    <p:sldId id="261" r:id="rId6"/>
    <p:sldId id="265" r:id="rId7"/>
    <p:sldId id="263" r:id="rId8"/>
    <p:sldId id="268" r:id="rId9"/>
    <p:sldId id="266" r:id="rId10"/>
    <p:sldId id="267" r:id="rId11"/>
  </p:sldIdLst>
  <p:sldSz cx="18288000" cy="10287000"/>
  <p:notesSz cx="6858000" cy="9144000"/>
  <p:embeddedFontLst>
    <p:embeddedFont>
      <p:font typeface="Gill Sans Ultra Bold" panose="020B0A02020104020203" pitchFamily="34" charset="0"/>
      <p:regular r:id="rId12"/>
    </p:embeddedFont>
    <p:embeddedFont>
      <p:font typeface="Calibri" panose="020F0502020204030204" pitchFamily="34" charset="0"/>
      <p:regular r:id="rId13"/>
      <p:bold r:id="rId14"/>
      <p:italic r:id="rId15"/>
      <p:boldItalic r:id="rId16"/>
    </p:embeddedFont>
    <p:embeddedFont>
      <p:font typeface="Public Sans" panose="020B0604020202020204" charset="0"/>
      <p:regular r:id="rId17"/>
    </p:embeddedFont>
    <p:embeddedFont>
      <p:font typeface="Public Sans Heavy" panose="020B0604020202020204" charset="0"/>
      <p:bold r:id="rId18"/>
    </p:embeddedFont>
    <p:embeddedFont>
      <p:font typeface="Sans Serif Collection" panose="020B0502040504020204" pitchFamily="34" charset="0"/>
      <p:regular r:id="rId19"/>
    </p:embeddedFont>
    <p:embeddedFont>
      <p:font typeface="Rockwell Extra Bold" panose="02060903040505020403" pitchFamily="18" charset="0"/>
      <p:bold r:id="rId20"/>
    </p:embeddedFont>
    <p:embeddedFont>
      <p:font typeface="Radley" panose="020B0604020202020204" charset="0"/>
      <p:regular r:id="rId21"/>
    </p:embeddedFont>
    <p:embeddedFont>
      <p:font typeface="Solway"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9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3F3"/>
    <a:srgbClr val="E9EB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32" autoAdjust="0"/>
    <p:restoredTop sz="87161" autoAdjust="0"/>
  </p:normalViewPr>
  <p:slideViewPr>
    <p:cSldViewPr showGuides="1">
      <p:cViewPr varScale="1">
        <p:scale>
          <a:sx n="37" d="100"/>
          <a:sy n="37" d="100"/>
        </p:scale>
        <p:origin x="1220" y="40"/>
      </p:cViewPr>
      <p:guideLst>
        <p:guide orient="horz" pos="2145"/>
        <p:guide pos="290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t>5/31/2025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5/31/2025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5/31/2025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17" Type="http://schemas.openxmlformats.org/officeDocument/2006/relationships/image" Target="../media/image16.svg"/><Relationship Id="rId2" Type="http://schemas.openxmlformats.org/officeDocument/2006/relationships/image" Target="../media/image1.png"/><Relationship Id="rId16"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6" Type="http://schemas.openxmlformats.org/officeDocument/2006/relationships/image" Target="../media/image16.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8.sv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8.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clipboard/media/image2.svg"/><Relationship Id="rId7" Type="http://schemas.openxmlformats.org/officeDocument/2006/relationships/image" Target="../../clipboard/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clipboard/media/image4.svg"/><Relationship Id="rId4" Type="http://schemas.openxmlformats.org/officeDocument/2006/relationships/image" Target="../media/image2.png"/><Relationship Id="rId9" Type="http://schemas.openxmlformats.org/officeDocument/2006/relationships/image" Target="../../clipboard/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8.svg"/><Relationship Id="rId10" Type="http://schemas.openxmlformats.org/officeDocument/2006/relationships/image" Target="../../clipboard/media/image20.svg"/><Relationship Id="rId4" Type="http://schemas.openxmlformats.org/officeDocument/2006/relationships/image" Target="../media/image9.png"/><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clipboard/media/image2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jpg"/><Relationship Id="rId5" Type="http://schemas.openxmlformats.org/officeDocument/2006/relationships/image" Target="../../clipboard/media/image4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clipboard/media/image22.svg"/><Relationship Id="rId7" Type="http://schemas.openxmlformats.org/officeDocument/2006/relationships/image" Target="../../clipboard/media/image6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clipboard/media/image10.svg"/><Relationship Id="rId5" Type="http://schemas.openxmlformats.org/officeDocument/2006/relationships/image" Target="../../clipboard/media/image41.sv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clipboard/media/image80.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clipboard/media/image23.svg"/><Relationship Id="rId7" Type="http://schemas.openxmlformats.org/officeDocument/2006/relationships/image" Target="../../clipboard/media/image61.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clipboard/media/image42.svg"/><Relationship Id="rId4" Type="http://schemas.openxmlformats.org/officeDocument/2006/relationships/image" Target="../media/image9.png"/><Relationship Id="rId9" Type="http://schemas.openxmlformats.org/officeDocument/2006/relationships/image" Target="../../clipboard/media/image8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22894" y="10496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rot="-1793077">
            <a:off x="1979827" y="-203162"/>
            <a:ext cx="1769402" cy="2463725"/>
          </a:xfrm>
          <a:custGeom>
            <a:avLst/>
            <a:gdLst/>
            <a:ahLst/>
            <a:cxnLst/>
            <a:rect l="l" t="t" r="r" b="b"/>
            <a:pathLst>
              <a:path w="1769402" h="2463725">
                <a:moveTo>
                  <a:pt x="0" y="0"/>
                </a:moveTo>
                <a:lnTo>
                  <a:pt x="1769402" y="0"/>
                </a:lnTo>
                <a:lnTo>
                  <a:pt x="1769402" y="2463724"/>
                </a:lnTo>
                <a:lnTo>
                  <a:pt x="0" y="2463724"/>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4" name="Freeform 4"/>
          <p:cNvSpPr/>
          <p:nvPr/>
        </p:nvSpPr>
        <p:spPr>
          <a:xfrm>
            <a:off x="10879237" y="1756834"/>
            <a:ext cx="7381076" cy="5549142"/>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 name="Freeform 5"/>
          <p:cNvSpPr/>
          <p:nvPr/>
        </p:nvSpPr>
        <p:spPr>
          <a:xfrm rot="855077">
            <a:off x="15822924" y="117496"/>
            <a:ext cx="2188188" cy="2523068"/>
          </a:xfrm>
          <a:custGeom>
            <a:avLst/>
            <a:gdLst/>
            <a:ahLst/>
            <a:cxnLst/>
            <a:rect l="l" t="t" r="r" b="b"/>
            <a:pathLst>
              <a:path w="2188188" h="2523068">
                <a:moveTo>
                  <a:pt x="0" y="0"/>
                </a:moveTo>
                <a:lnTo>
                  <a:pt x="2188188" y="0"/>
                </a:lnTo>
                <a:lnTo>
                  <a:pt x="2188188" y="2523067"/>
                </a:lnTo>
                <a:lnTo>
                  <a:pt x="0" y="2523067"/>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grpSp>
        <p:nvGrpSpPr>
          <p:cNvPr id="6" name="Group 6"/>
          <p:cNvGrpSpPr/>
          <p:nvPr/>
        </p:nvGrpSpPr>
        <p:grpSpPr>
          <a:xfrm>
            <a:off x="4245373" y="466053"/>
            <a:ext cx="10814888" cy="3045453"/>
            <a:chOff x="0" y="0"/>
            <a:chExt cx="984408" cy="277208"/>
          </a:xfrm>
        </p:grpSpPr>
        <p:sp>
          <p:nvSpPr>
            <p:cNvPr id="7" name="Freeform 7"/>
            <p:cNvSpPr/>
            <p:nvPr/>
          </p:nvSpPr>
          <p:spPr>
            <a:xfrm>
              <a:off x="0" y="0"/>
              <a:ext cx="984408" cy="277208"/>
            </a:xfrm>
            <a:custGeom>
              <a:avLst/>
              <a:gdLst/>
              <a:ahLst/>
              <a:cxnLst/>
              <a:rect l="l" t="t" r="r" b="b"/>
              <a:pathLst>
                <a:path w="984408" h="277208">
                  <a:moveTo>
                    <a:pt x="781208" y="0"/>
                  </a:moveTo>
                  <a:cubicBezTo>
                    <a:pt x="893433" y="0"/>
                    <a:pt x="984408" y="62055"/>
                    <a:pt x="984408" y="138604"/>
                  </a:cubicBezTo>
                  <a:cubicBezTo>
                    <a:pt x="984408" y="215153"/>
                    <a:pt x="893433" y="277208"/>
                    <a:pt x="781208" y="277208"/>
                  </a:cubicBezTo>
                  <a:lnTo>
                    <a:pt x="203200" y="277208"/>
                  </a:lnTo>
                  <a:cubicBezTo>
                    <a:pt x="90976" y="277208"/>
                    <a:pt x="0" y="215153"/>
                    <a:pt x="0" y="138604"/>
                  </a:cubicBezTo>
                  <a:cubicBezTo>
                    <a:pt x="0" y="62055"/>
                    <a:pt x="90976" y="0"/>
                    <a:pt x="203200" y="0"/>
                  </a:cubicBezTo>
                  <a:close/>
                </a:path>
              </a:pathLst>
            </a:custGeom>
            <a:solidFill>
              <a:srgbClr val="E9EAF6"/>
            </a:solidFill>
          </p:spPr>
        </p:sp>
        <p:sp>
          <p:nvSpPr>
            <p:cNvPr id="8" name="TextBox 8"/>
            <p:cNvSpPr txBox="1"/>
            <p:nvPr/>
          </p:nvSpPr>
          <p:spPr>
            <a:xfrm>
              <a:off x="0" y="-38100"/>
              <a:ext cx="984408" cy="315308"/>
            </a:xfrm>
            <a:prstGeom prst="rect">
              <a:avLst/>
            </a:prstGeom>
          </p:spPr>
          <p:txBody>
            <a:bodyPr lIns="50800" tIns="50800" rIns="50800" bIns="50800" rtlCol="0" anchor="ctr"/>
            <a:lstStyle/>
            <a:p>
              <a:pPr algn="ctr">
                <a:lnSpc>
                  <a:spcPts val="2660"/>
                </a:lnSpc>
              </a:pPr>
              <a:endParaRPr/>
            </a:p>
          </p:txBody>
        </p:sp>
      </p:grpSp>
      <p:sp>
        <p:nvSpPr>
          <p:cNvPr id="9" name="Freeform 9"/>
          <p:cNvSpPr/>
          <p:nvPr/>
        </p:nvSpPr>
        <p:spPr>
          <a:xfrm>
            <a:off x="79531" y="5372979"/>
            <a:ext cx="3814457" cy="5060639"/>
          </a:xfrm>
          <a:custGeom>
            <a:avLst/>
            <a:gdLst/>
            <a:ahLst/>
            <a:cxnLst/>
            <a:rect l="l" t="t" r="r" b="b"/>
            <a:pathLst>
              <a:path w="3814457" h="5060639">
                <a:moveTo>
                  <a:pt x="0" y="0"/>
                </a:moveTo>
                <a:lnTo>
                  <a:pt x="3814457" y="0"/>
                </a:lnTo>
                <a:lnTo>
                  <a:pt x="3814457" y="5060639"/>
                </a:lnTo>
                <a:lnTo>
                  <a:pt x="0" y="5060639"/>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0" name="Freeform 10"/>
          <p:cNvSpPr/>
          <p:nvPr/>
        </p:nvSpPr>
        <p:spPr>
          <a:xfrm>
            <a:off x="3146600" y="5348856"/>
            <a:ext cx="4031635" cy="5229715"/>
          </a:xfrm>
          <a:custGeom>
            <a:avLst/>
            <a:gdLst/>
            <a:ahLst/>
            <a:cxnLst/>
            <a:rect l="l" t="t" r="r" b="b"/>
            <a:pathLst>
              <a:path w="4031635" h="5229715">
                <a:moveTo>
                  <a:pt x="0" y="0"/>
                </a:moveTo>
                <a:lnTo>
                  <a:pt x="4031635" y="0"/>
                </a:lnTo>
                <a:lnTo>
                  <a:pt x="4031635" y="5229715"/>
                </a:lnTo>
                <a:lnTo>
                  <a:pt x="0" y="5229715"/>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1" name="Freeform 11"/>
          <p:cNvSpPr/>
          <p:nvPr/>
        </p:nvSpPr>
        <p:spPr>
          <a:xfrm rot="-1257881">
            <a:off x="-291197" y="2392534"/>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12">
              <a:extLst>
                <a:ext uri="{96DAC541-7B7A-43D3-8B79-37D633B846F1}">
                  <asvg:svgBlip xmlns="" xmlns:asvg="http://schemas.microsoft.com/office/drawing/2016/SVG/main" r:embed="rId13"/>
                </a:ext>
              </a:extLst>
            </a:blip>
            <a:stretch>
              <a:fillRect/>
            </a:stretch>
          </a:blipFill>
        </p:spPr>
      </p:sp>
      <p:sp>
        <p:nvSpPr>
          <p:cNvPr id="12" name="Freeform 12"/>
          <p:cNvSpPr/>
          <p:nvPr/>
        </p:nvSpPr>
        <p:spPr>
          <a:xfrm rot="-1248570">
            <a:off x="7939786" y="4548523"/>
            <a:ext cx="2408429" cy="3431699"/>
          </a:xfrm>
          <a:custGeom>
            <a:avLst/>
            <a:gdLst/>
            <a:ahLst/>
            <a:cxnLst/>
            <a:rect l="l" t="t" r="r" b="b"/>
            <a:pathLst>
              <a:path w="2408429" h="3431699">
                <a:moveTo>
                  <a:pt x="0" y="0"/>
                </a:moveTo>
                <a:lnTo>
                  <a:pt x="2408428" y="0"/>
                </a:lnTo>
                <a:lnTo>
                  <a:pt x="2408428" y="3431700"/>
                </a:lnTo>
                <a:lnTo>
                  <a:pt x="0" y="3431700"/>
                </a:lnTo>
                <a:lnTo>
                  <a:pt x="0" y="0"/>
                </a:lnTo>
                <a:close/>
              </a:path>
            </a:pathLst>
          </a:custGeom>
          <a:blipFill>
            <a:blip r:embed="rId14">
              <a:extLst>
                <a:ext uri="{96DAC541-7B7A-43D3-8B79-37D633B846F1}">
                  <asvg:svgBlip xmlns="" xmlns:asvg="http://schemas.microsoft.com/office/drawing/2016/SVG/main" r:embed="rId15"/>
                </a:ext>
              </a:extLst>
            </a:blip>
            <a:stretch>
              <a:fillRect/>
            </a:stretch>
          </a:blipFill>
        </p:spPr>
      </p:sp>
      <p:sp>
        <p:nvSpPr>
          <p:cNvPr id="13" name="Freeform 13"/>
          <p:cNvSpPr/>
          <p:nvPr/>
        </p:nvSpPr>
        <p:spPr>
          <a:xfrm rot="-5500207">
            <a:off x="3412617" y="353163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16">
              <a:extLst>
                <a:ext uri="{96DAC541-7B7A-43D3-8B79-37D633B846F1}">
                  <asvg:svgBlip xmlns="" xmlns:asvg="http://schemas.microsoft.com/office/drawing/2016/SVG/main" r:embed="rId17"/>
                </a:ext>
              </a:extLst>
            </a:blip>
            <a:stretch>
              <a:fillRect/>
            </a:stretch>
          </a:blipFill>
        </p:spPr>
      </p:sp>
      <p:sp>
        <p:nvSpPr>
          <p:cNvPr id="14" name="Freeform 14"/>
          <p:cNvSpPr/>
          <p:nvPr/>
        </p:nvSpPr>
        <p:spPr>
          <a:xfrm rot="-5500207" flipH="1">
            <a:off x="16461519" y="3531639"/>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16">
              <a:extLst>
                <a:ext uri="{96DAC541-7B7A-43D3-8B79-37D633B846F1}">
                  <asvg:svgBlip xmlns="" xmlns:asvg="http://schemas.microsoft.com/office/drawing/2016/SVG/main" r:embed="rId17"/>
                </a:ext>
              </a:extLst>
            </a:blip>
            <a:stretch>
              <a:fillRect/>
            </a:stretch>
          </a:blipFill>
        </p:spPr>
      </p:sp>
      <p:sp>
        <p:nvSpPr>
          <p:cNvPr id="15" name="TextBox 15"/>
          <p:cNvSpPr txBox="1"/>
          <p:nvPr/>
        </p:nvSpPr>
        <p:spPr>
          <a:xfrm>
            <a:off x="4412033" y="973959"/>
            <a:ext cx="11361340" cy="1923604"/>
          </a:xfrm>
          <a:prstGeom prst="rect">
            <a:avLst/>
          </a:prstGeom>
        </p:spPr>
        <p:txBody>
          <a:bodyPr wrap="square" lIns="0" tIns="0" rIns="0" bIns="0" rtlCol="0" anchor="t">
            <a:spAutoFit/>
          </a:bodyPr>
          <a:lstStyle/>
          <a:p>
            <a:pPr algn="ctr">
              <a:lnSpc>
                <a:spcPts val="7525"/>
              </a:lnSpc>
            </a:pPr>
            <a:r>
              <a:rPr lang="en-US" sz="6500" dirty="0">
                <a:solidFill>
                  <a:srgbClr val="222366"/>
                </a:solidFill>
                <a:latin typeface="Rockwell Extra Bold" panose="02060903040505020403" pitchFamily="18" charset="0"/>
                <a:ea typeface="Brick Sans"/>
                <a:cs typeface="Brick Sans"/>
                <a:sym typeface="Brick Sans"/>
              </a:rPr>
              <a:t>Gene Expression </a:t>
            </a:r>
            <a:endParaRPr lang="en-US" sz="6500" dirty="0" smtClean="0">
              <a:solidFill>
                <a:srgbClr val="222366"/>
              </a:solidFill>
              <a:latin typeface="Rockwell Extra Bold" panose="02060903040505020403" pitchFamily="18" charset="0"/>
              <a:ea typeface="Brick Sans"/>
              <a:cs typeface="Brick Sans"/>
              <a:sym typeface="Brick Sans"/>
            </a:endParaRPr>
          </a:p>
          <a:p>
            <a:pPr algn="ctr">
              <a:lnSpc>
                <a:spcPts val="7525"/>
              </a:lnSpc>
            </a:pPr>
            <a:r>
              <a:rPr lang="en-US" sz="6500" dirty="0" smtClean="0">
                <a:solidFill>
                  <a:srgbClr val="222366"/>
                </a:solidFill>
                <a:latin typeface="Rockwell Extra Bold" panose="02060903040505020403" pitchFamily="18" charset="0"/>
                <a:ea typeface="Brick Sans"/>
                <a:cs typeface="Brick Sans"/>
                <a:sym typeface="Brick Sans"/>
              </a:rPr>
              <a:t>Explorer</a:t>
            </a:r>
            <a:endParaRPr lang="en-US" sz="6500" dirty="0">
              <a:solidFill>
                <a:srgbClr val="222366"/>
              </a:solidFill>
              <a:latin typeface="Rockwell Extra Bold" panose="02060903040505020403" pitchFamily="18" charset="0"/>
              <a:ea typeface="Brick Sans"/>
              <a:cs typeface="Brick Sans"/>
              <a:sym typeface="Brick Sans"/>
            </a:endParaRPr>
          </a:p>
        </p:txBody>
      </p:sp>
      <p:grpSp>
        <p:nvGrpSpPr>
          <p:cNvPr id="16" name="Group 16"/>
          <p:cNvGrpSpPr/>
          <p:nvPr/>
        </p:nvGrpSpPr>
        <p:grpSpPr>
          <a:xfrm>
            <a:off x="9895704" y="7480707"/>
            <a:ext cx="8392296" cy="2806293"/>
            <a:chOff x="0" y="0"/>
            <a:chExt cx="1127767" cy="377113"/>
          </a:xfrm>
        </p:grpSpPr>
        <p:sp>
          <p:nvSpPr>
            <p:cNvPr id="17" name="Freeform 17"/>
            <p:cNvSpPr/>
            <p:nvPr/>
          </p:nvSpPr>
          <p:spPr>
            <a:xfrm>
              <a:off x="0" y="0"/>
              <a:ext cx="1127767" cy="377113"/>
            </a:xfrm>
            <a:custGeom>
              <a:avLst/>
              <a:gdLst/>
              <a:ahLst/>
              <a:cxnLst/>
              <a:rect l="l" t="t" r="r" b="b"/>
              <a:pathLst>
                <a:path w="1127767" h="377113">
                  <a:moveTo>
                    <a:pt x="924567" y="0"/>
                  </a:moveTo>
                  <a:cubicBezTo>
                    <a:pt x="1036791" y="0"/>
                    <a:pt x="1127767" y="84420"/>
                    <a:pt x="1127767" y="188557"/>
                  </a:cubicBezTo>
                  <a:cubicBezTo>
                    <a:pt x="1127767" y="292693"/>
                    <a:pt x="1036791" y="377113"/>
                    <a:pt x="924567" y="377113"/>
                  </a:cubicBezTo>
                  <a:lnTo>
                    <a:pt x="203200" y="377113"/>
                  </a:lnTo>
                  <a:cubicBezTo>
                    <a:pt x="90976" y="377113"/>
                    <a:pt x="0" y="292693"/>
                    <a:pt x="0" y="188557"/>
                  </a:cubicBezTo>
                  <a:cubicBezTo>
                    <a:pt x="0" y="84420"/>
                    <a:pt x="90976" y="0"/>
                    <a:pt x="203200" y="0"/>
                  </a:cubicBezTo>
                  <a:close/>
                </a:path>
              </a:pathLst>
            </a:custGeom>
            <a:solidFill>
              <a:srgbClr val="E9EAF6"/>
            </a:solidFill>
          </p:spPr>
        </p:sp>
        <p:sp>
          <p:nvSpPr>
            <p:cNvPr id="18" name="TextBox 18"/>
            <p:cNvSpPr txBox="1"/>
            <p:nvPr/>
          </p:nvSpPr>
          <p:spPr>
            <a:xfrm>
              <a:off x="0" y="-57150"/>
              <a:ext cx="1127767" cy="434263"/>
            </a:xfrm>
            <a:prstGeom prst="rect">
              <a:avLst/>
            </a:prstGeom>
          </p:spPr>
          <p:txBody>
            <a:bodyPr lIns="50800" tIns="50800" rIns="50800" bIns="50800" rtlCol="0" anchor="ctr"/>
            <a:lstStyle/>
            <a:p>
              <a:pPr algn="ctr">
                <a:lnSpc>
                  <a:spcPts val="4200"/>
                </a:lnSpc>
              </a:pPr>
              <a:r>
                <a:rPr lang="en-US" sz="3000">
                  <a:solidFill>
                    <a:srgbClr val="000000"/>
                  </a:solidFill>
                  <a:latin typeface="Radley" panose="00000500000000000000"/>
                  <a:ea typeface="Radley" panose="00000500000000000000"/>
                  <a:cs typeface="Radley" panose="00000500000000000000"/>
                  <a:sym typeface="Radley" panose="00000500000000000000"/>
                </a:rPr>
                <a:t>Team Name: TJ Squard</a:t>
              </a:r>
            </a:p>
            <a:p>
              <a:pPr algn="ctr">
                <a:lnSpc>
                  <a:spcPts val="4200"/>
                </a:lnSpc>
              </a:pPr>
              <a:endParaRPr lang="en-US" sz="3000">
                <a:solidFill>
                  <a:srgbClr val="000000"/>
                </a:solidFill>
                <a:latin typeface="Radley" panose="00000500000000000000"/>
                <a:ea typeface="Radley" panose="00000500000000000000"/>
                <a:cs typeface="Radley" panose="00000500000000000000"/>
                <a:sym typeface="Radley" panose="00000500000000000000"/>
              </a:endParaRPr>
            </a:p>
            <a:p>
              <a:pPr algn="ctr">
                <a:lnSpc>
                  <a:spcPts val="4200"/>
                </a:lnSpc>
              </a:pPr>
              <a:r>
                <a:rPr lang="en-US" sz="3000">
                  <a:solidFill>
                    <a:srgbClr val="000000"/>
                  </a:solidFill>
                  <a:latin typeface="Radley" panose="00000500000000000000"/>
                  <a:ea typeface="Radley" panose="00000500000000000000"/>
                  <a:cs typeface="Radley" panose="00000500000000000000"/>
                  <a:sym typeface="Radley" panose="00000500000000000000"/>
                </a:rPr>
                <a:t>Created By:</a:t>
              </a:r>
            </a:p>
            <a:p>
              <a:pPr algn="ctr">
                <a:lnSpc>
                  <a:spcPts val="4200"/>
                </a:lnSpc>
              </a:pPr>
              <a:r>
                <a:rPr lang="en-US" sz="3000">
                  <a:solidFill>
                    <a:srgbClr val="000000"/>
                  </a:solidFill>
                  <a:latin typeface="Radley" panose="00000500000000000000"/>
                  <a:ea typeface="Radley" panose="00000500000000000000"/>
                  <a:cs typeface="Radley" panose="00000500000000000000"/>
                  <a:sym typeface="Radley" panose="00000500000000000000"/>
                </a:rPr>
                <a:t>TojinVakey Simson &amp; Jaiby Mariya Joseph</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710140" y="256056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2598715" y="-615042"/>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1094511" y="364687"/>
            <a:ext cx="16554685" cy="9505931"/>
            <a:chOff x="0" y="0"/>
            <a:chExt cx="740883" cy="425425"/>
          </a:xfrm>
        </p:grpSpPr>
        <p:sp>
          <p:nvSpPr>
            <p:cNvPr id="5" name="Freeform 5"/>
            <p:cNvSpPr/>
            <p:nvPr/>
          </p:nvSpPr>
          <p:spPr>
            <a:xfrm>
              <a:off x="0" y="0"/>
              <a:ext cx="740883" cy="425425"/>
            </a:xfrm>
            <a:custGeom>
              <a:avLst/>
              <a:gdLst/>
              <a:ahLst/>
              <a:cxnLst/>
              <a:rect l="l" t="t" r="r" b="b"/>
              <a:pathLst>
                <a:path w="740883" h="425425">
                  <a:moveTo>
                    <a:pt x="537683" y="0"/>
                  </a:moveTo>
                  <a:cubicBezTo>
                    <a:pt x="649907" y="0"/>
                    <a:pt x="740883" y="95235"/>
                    <a:pt x="740883" y="212713"/>
                  </a:cubicBezTo>
                  <a:cubicBezTo>
                    <a:pt x="740883" y="330191"/>
                    <a:pt x="649907" y="425425"/>
                    <a:pt x="53768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6" name="TextBox 6"/>
            <p:cNvSpPr txBox="1"/>
            <p:nvPr/>
          </p:nvSpPr>
          <p:spPr>
            <a:xfrm>
              <a:off x="0" y="-38100"/>
              <a:ext cx="740883" cy="463525"/>
            </a:xfrm>
            <a:prstGeom prst="rect">
              <a:avLst/>
            </a:prstGeom>
          </p:spPr>
          <p:txBody>
            <a:bodyPr lIns="50800" tIns="50800" rIns="50800" bIns="50800" rtlCol="0" anchor="ctr"/>
            <a:lstStyle/>
            <a:p>
              <a:pPr algn="ctr">
                <a:lnSpc>
                  <a:spcPts val="2660"/>
                </a:lnSpc>
              </a:pPr>
              <a:endParaRPr/>
            </a:p>
          </p:txBody>
        </p:sp>
      </p:grpSp>
      <p:sp>
        <p:nvSpPr>
          <p:cNvPr id="7" name="Freeform 7"/>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rot="-1248570">
            <a:off x="316909" y="7171350"/>
            <a:ext cx="2216669" cy="3332947"/>
          </a:xfrm>
          <a:custGeom>
            <a:avLst/>
            <a:gdLst/>
            <a:ahLst/>
            <a:cxnLst/>
            <a:rect l="l" t="t" r="r" b="b"/>
            <a:pathLst>
              <a:path w="2532247" h="3608124">
                <a:moveTo>
                  <a:pt x="0" y="0"/>
                </a:moveTo>
                <a:lnTo>
                  <a:pt x="2532247" y="0"/>
                </a:lnTo>
                <a:lnTo>
                  <a:pt x="2532247" y="3608125"/>
                </a:lnTo>
                <a:lnTo>
                  <a:pt x="0" y="3608125"/>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TextBox 9"/>
          <p:cNvSpPr txBox="1"/>
          <p:nvPr/>
        </p:nvSpPr>
        <p:spPr>
          <a:xfrm>
            <a:off x="2303095" y="1663612"/>
            <a:ext cx="14689505" cy="8051887"/>
          </a:xfrm>
          <a:prstGeom prst="rect">
            <a:avLst/>
          </a:prstGeom>
        </p:spPr>
        <p:txBody>
          <a:bodyPr lIns="0" tIns="0" rIns="0" bIns="0" rtlCol="0" anchor="t">
            <a:noAutofit/>
          </a:bodyPr>
          <a:lstStyle/>
          <a:p>
            <a:pPr algn="l">
              <a:lnSpc>
                <a:spcPts val="2920"/>
              </a:lnSpc>
            </a:pPr>
            <a:r>
              <a:rPr lang="en-US" sz="3000" b="1" dirty="0" smtClean="0">
                <a:solidFill>
                  <a:srgbClr val="222366"/>
                </a:solidFill>
                <a:latin typeface="Public Sans Heavy" panose="020B0604020202020204" charset="0"/>
                <a:ea typeface="Public Sans Heavy"/>
                <a:cs typeface="Public Sans Heavy"/>
                <a:sym typeface="Public Sans Heavy"/>
              </a:rPr>
              <a:t>Challenge:</a:t>
            </a:r>
          </a:p>
          <a:p>
            <a:pPr marL="450850" lvl="1" indent="-225425" algn="l">
              <a:lnSpc>
                <a:spcPts val="2920"/>
              </a:lnSpc>
              <a:buFont typeface="Arial" panose="020B0604020202020204"/>
              <a:buChar char="•"/>
            </a:pPr>
            <a:r>
              <a:rPr lang="en-US" sz="3000" b="1" dirty="0" smtClean="0">
                <a:solidFill>
                  <a:srgbClr val="222366"/>
                </a:solidFill>
                <a:latin typeface="Public Sans Heavy" panose="020B0604020202020204" charset="0"/>
                <a:ea typeface="Public Sans Heavy"/>
                <a:cs typeface="Public Sans Heavy"/>
                <a:sym typeface="Public Sans Heavy"/>
              </a:rPr>
              <a:t>There is a vast amount of genomic data available in public repositories, such as NCBI GEO. However, this data is often difficult to interpret without deep knowledge of bioinformatics. The challenge is not just accessing this data, but effectively analyzing and interpreting it to derive meaningful insights that can contribute to research or clinical applications.</a:t>
            </a:r>
          </a:p>
          <a:p>
            <a:pPr marL="225425" lvl="1" algn="l">
              <a:lnSpc>
                <a:spcPts val="2920"/>
              </a:lnSpc>
            </a:pPr>
            <a:endParaRPr sz="3000" b="1" dirty="0" smtClean="0">
              <a:latin typeface="Public Sans Heavy" panose="020B0604020202020204" charset="0"/>
            </a:endParaRPr>
          </a:p>
          <a:p>
            <a:pPr algn="l">
              <a:lnSpc>
                <a:spcPts val="3105"/>
              </a:lnSpc>
            </a:pPr>
            <a:r>
              <a:rPr lang="en-US" sz="3000" b="1" dirty="0" smtClean="0">
                <a:solidFill>
                  <a:srgbClr val="222366"/>
                </a:solidFill>
                <a:latin typeface="Public Sans Heavy" panose="020B0604020202020204" charset="0"/>
                <a:ea typeface="Public Sans Heavy"/>
                <a:cs typeface="Public Sans Heavy"/>
                <a:sym typeface="Public Sans Heavy"/>
              </a:rPr>
              <a:t>Key Issues:</a:t>
            </a:r>
          </a:p>
          <a:p>
            <a:pPr marL="479425" lvl="1" indent="-239395" algn="l">
              <a:lnSpc>
                <a:spcPts val="3105"/>
              </a:lnSpc>
              <a:buFont typeface="Arial" panose="020B0604020202020204"/>
              <a:buChar char="•"/>
            </a:pPr>
            <a:r>
              <a:rPr lang="en-US" sz="3000" b="1" dirty="0" smtClean="0">
                <a:solidFill>
                  <a:srgbClr val="222366"/>
                </a:solidFill>
                <a:latin typeface="Public Sans Heavy" panose="020B0604020202020204" charset="0"/>
                <a:ea typeface="Public Sans Heavy"/>
                <a:cs typeface="Public Sans Heavy"/>
                <a:sym typeface="Public Sans Heavy"/>
              </a:rPr>
              <a:t>Difficulty in Differentiating Between Healthy and Diseased Gene Expression:</a:t>
            </a:r>
          </a:p>
          <a:p>
            <a:pPr algn="l">
              <a:lnSpc>
                <a:spcPts val="3105"/>
              </a:lnSpc>
            </a:pPr>
            <a:r>
              <a:rPr lang="en-US" sz="3000" b="1" dirty="0" smtClean="0">
                <a:solidFill>
                  <a:srgbClr val="222366"/>
                </a:solidFill>
                <a:latin typeface="Public Sans Heavy" panose="020B0604020202020204" charset="0"/>
                <a:ea typeface="Public Sans Heavy"/>
                <a:cs typeface="Public Sans Heavy"/>
                <a:sym typeface="Public Sans Heavy"/>
              </a:rPr>
              <a:t>One of the core challenges in genomics research is identifying the differences in gene expression profiles between healthy and diseased states. Despite the availability of datasets, it is challenging to identify these differences without advanced statistical tools or knowledge.</a:t>
            </a:r>
          </a:p>
          <a:p>
            <a:pPr algn="l">
              <a:lnSpc>
                <a:spcPts val="3105"/>
              </a:lnSpc>
            </a:pPr>
            <a:endParaRPr lang="en-US" sz="3000" b="1" dirty="0" smtClean="0">
              <a:solidFill>
                <a:srgbClr val="222366"/>
              </a:solidFill>
              <a:latin typeface="Public Sans Heavy" panose="020B0604020202020204" charset="0"/>
              <a:ea typeface="Public Sans Heavy"/>
              <a:cs typeface="Public Sans Heavy"/>
              <a:sym typeface="Public Sans Heavy"/>
            </a:endParaRPr>
          </a:p>
          <a:p>
            <a:pPr marL="457200" indent="-457200" algn="l">
              <a:lnSpc>
                <a:spcPts val="3105"/>
              </a:lnSpc>
              <a:buFont typeface="Arial" panose="020B0604020202020204" pitchFamily="34" charset="0"/>
              <a:buChar char="•"/>
            </a:pPr>
            <a:r>
              <a:rPr lang="en-US" sz="3000" b="1" dirty="0" smtClean="0">
                <a:solidFill>
                  <a:srgbClr val="222366"/>
                </a:solidFill>
                <a:latin typeface="Public Sans Heavy" panose="020B0604020202020204" charset="0"/>
                <a:ea typeface="Public Sans Heavy"/>
                <a:cs typeface="Public Sans Heavy"/>
                <a:sym typeface="Public Sans Heavy"/>
              </a:rPr>
              <a:t>Lack of User-Friendly Tools for Non-Experts:</a:t>
            </a:r>
          </a:p>
          <a:p>
            <a:pPr algn="l">
              <a:lnSpc>
                <a:spcPts val="3105"/>
              </a:lnSpc>
            </a:pPr>
            <a:r>
              <a:rPr lang="en-US" sz="3000" b="1" dirty="0" smtClean="0">
                <a:solidFill>
                  <a:srgbClr val="222366"/>
                </a:solidFill>
                <a:latin typeface="Public Sans Heavy" panose="020B0604020202020204" charset="0"/>
                <a:ea typeface="Public Sans Heavy"/>
                <a:cs typeface="Public Sans Heavy"/>
                <a:sym typeface="Public Sans Heavy"/>
              </a:rPr>
              <a:t>Many existing tools are too complex or require specialized knowledge of bioinformatics, programming, and data analysis. This limits access to crucial insights for a broad range of users, including clinicians, educators, and researchers from non-computational fields.</a:t>
            </a:r>
          </a:p>
          <a:p>
            <a:pPr algn="l">
              <a:lnSpc>
                <a:spcPts val="3105"/>
              </a:lnSpc>
            </a:pPr>
            <a:endParaRPr lang="en-US" sz="2220" b="1" dirty="0">
              <a:solidFill>
                <a:srgbClr val="222366"/>
              </a:solidFill>
              <a:latin typeface="Public Sans Heavy"/>
              <a:ea typeface="Public Sans Heavy"/>
              <a:cs typeface="Public Sans Heavy"/>
              <a:sym typeface="Public Sans Heavy"/>
            </a:endParaRPr>
          </a:p>
          <a:p>
            <a:pPr algn="l">
              <a:lnSpc>
                <a:spcPts val="3105"/>
              </a:lnSpc>
            </a:pPr>
            <a:endParaRPr lang="en-US" sz="2220" b="1" dirty="0">
              <a:solidFill>
                <a:srgbClr val="222366"/>
              </a:solidFill>
              <a:latin typeface="Public Sans Heavy"/>
              <a:ea typeface="Public Sans Heavy"/>
              <a:cs typeface="Public Sans Heavy"/>
              <a:sym typeface="Public Sans Heavy"/>
            </a:endParaRPr>
          </a:p>
        </p:txBody>
      </p:sp>
      <p:sp>
        <p:nvSpPr>
          <p:cNvPr id="10" name="TextBox 10"/>
          <p:cNvSpPr txBox="1"/>
          <p:nvPr/>
        </p:nvSpPr>
        <p:spPr>
          <a:xfrm>
            <a:off x="3053312" y="254121"/>
            <a:ext cx="12637084" cy="987835"/>
          </a:xfrm>
          <a:prstGeom prst="rect">
            <a:avLst/>
          </a:prstGeom>
        </p:spPr>
        <p:txBody>
          <a:bodyPr lIns="0" tIns="0" rIns="0" bIns="0" rtlCol="0" anchor="t">
            <a:spAutoFit/>
          </a:bodyPr>
          <a:lstStyle/>
          <a:p>
            <a:pPr algn="ctr">
              <a:lnSpc>
                <a:spcPts val="8820"/>
              </a:lnSpc>
            </a:pPr>
            <a:r>
              <a:rPr lang="en-US" sz="5000" b="1" dirty="0">
                <a:solidFill>
                  <a:srgbClr val="222366"/>
                </a:solidFill>
                <a:latin typeface="Public Sans Heavy" panose="020B0604020202020204" charset="0"/>
                <a:ea typeface="Brick Sans"/>
                <a:cs typeface="Brick Sans"/>
                <a:sym typeface="Brick Sans"/>
              </a:rPr>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447800" y="22479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3106400" y="-342900"/>
            <a:ext cx="7006230"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 name="Group 4"/>
          <p:cNvGrpSpPr/>
          <p:nvPr/>
        </p:nvGrpSpPr>
        <p:grpSpPr>
          <a:xfrm>
            <a:off x="771503" y="1028700"/>
            <a:ext cx="16554685" cy="9067799"/>
            <a:chOff x="0" y="0"/>
            <a:chExt cx="740883" cy="425425"/>
          </a:xfrm>
        </p:grpSpPr>
        <p:sp>
          <p:nvSpPr>
            <p:cNvPr id="5" name="Freeform 5"/>
            <p:cNvSpPr/>
            <p:nvPr/>
          </p:nvSpPr>
          <p:spPr>
            <a:xfrm>
              <a:off x="0" y="0"/>
              <a:ext cx="740883" cy="425425"/>
            </a:xfrm>
            <a:custGeom>
              <a:avLst/>
              <a:gdLst/>
              <a:ahLst/>
              <a:cxnLst/>
              <a:rect l="l" t="t" r="r" b="b"/>
              <a:pathLst>
                <a:path w="740883" h="425425">
                  <a:moveTo>
                    <a:pt x="537683" y="0"/>
                  </a:moveTo>
                  <a:cubicBezTo>
                    <a:pt x="649907" y="0"/>
                    <a:pt x="740883" y="95235"/>
                    <a:pt x="740883" y="212713"/>
                  </a:cubicBezTo>
                  <a:cubicBezTo>
                    <a:pt x="740883" y="330191"/>
                    <a:pt x="649907" y="425425"/>
                    <a:pt x="537683" y="425425"/>
                  </a:cubicBezTo>
                  <a:lnTo>
                    <a:pt x="203200" y="425425"/>
                  </a:lnTo>
                  <a:cubicBezTo>
                    <a:pt x="90976" y="425425"/>
                    <a:pt x="0" y="330191"/>
                    <a:pt x="0" y="212713"/>
                  </a:cubicBezTo>
                  <a:cubicBezTo>
                    <a:pt x="0" y="95235"/>
                    <a:pt x="90976" y="0"/>
                    <a:pt x="203200" y="0"/>
                  </a:cubicBezTo>
                  <a:close/>
                </a:path>
              </a:pathLst>
            </a:custGeom>
            <a:solidFill>
              <a:srgbClr val="E9EAF6"/>
            </a:solidFill>
            <a:ln cap="sq">
              <a:noFill/>
              <a:prstDash val="solid"/>
              <a:miter/>
            </a:ln>
          </p:spPr>
        </p:sp>
        <p:sp>
          <p:nvSpPr>
            <p:cNvPr id="6" name="TextBox 6"/>
            <p:cNvSpPr txBox="1"/>
            <p:nvPr/>
          </p:nvSpPr>
          <p:spPr>
            <a:xfrm>
              <a:off x="0" y="-38100"/>
              <a:ext cx="740883" cy="463525"/>
            </a:xfrm>
            <a:prstGeom prst="rect">
              <a:avLst/>
            </a:prstGeom>
          </p:spPr>
          <p:txBody>
            <a:bodyPr lIns="50800" tIns="50800" rIns="50800" bIns="50800" rtlCol="0" anchor="ctr"/>
            <a:lstStyle/>
            <a:p>
              <a:pPr algn="ctr">
                <a:lnSpc>
                  <a:spcPts val="2660"/>
                </a:lnSpc>
              </a:pPr>
              <a:endParaRPr/>
            </a:p>
          </p:txBody>
        </p:sp>
      </p:grpSp>
      <p:sp>
        <p:nvSpPr>
          <p:cNvPr id="7" name="Freeform 7"/>
          <p:cNvSpPr/>
          <p:nvPr/>
        </p:nvSpPr>
        <p:spPr>
          <a:xfrm rot="-137149">
            <a:off x="798905" y="392089"/>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8" name="Freeform 8"/>
          <p:cNvSpPr/>
          <p:nvPr/>
        </p:nvSpPr>
        <p:spPr>
          <a:xfrm rot="-1248570">
            <a:off x="15721042" y="6856040"/>
            <a:ext cx="2532247" cy="3608124"/>
          </a:xfrm>
          <a:custGeom>
            <a:avLst/>
            <a:gdLst/>
            <a:ahLst/>
            <a:cxnLst/>
            <a:rect l="l" t="t" r="r" b="b"/>
            <a:pathLst>
              <a:path w="2532247" h="3608124">
                <a:moveTo>
                  <a:pt x="0" y="0"/>
                </a:moveTo>
                <a:lnTo>
                  <a:pt x="2532247" y="0"/>
                </a:lnTo>
                <a:lnTo>
                  <a:pt x="2532247" y="3608125"/>
                </a:lnTo>
                <a:lnTo>
                  <a:pt x="0" y="3608125"/>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9" name="TextBox 9"/>
          <p:cNvSpPr txBox="1"/>
          <p:nvPr/>
        </p:nvSpPr>
        <p:spPr>
          <a:xfrm>
            <a:off x="1981200" y="1751037"/>
            <a:ext cx="15087600" cy="7132003"/>
          </a:xfrm>
          <a:prstGeom prst="rect">
            <a:avLst/>
          </a:prstGeom>
        </p:spPr>
        <p:txBody>
          <a:bodyPr lIns="0" tIns="0" rIns="0" bIns="0" rtlCol="0" anchor="t">
            <a:noAutofit/>
          </a:bodyPr>
          <a:lstStyle/>
          <a:p>
            <a:pPr algn="l">
              <a:lnSpc>
                <a:spcPts val="3105"/>
              </a:lnSpc>
            </a:pPr>
            <a:endParaRPr lang="en-US" sz="3500" b="1" dirty="0">
              <a:solidFill>
                <a:srgbClr val="222366"/>
              </a:solidFill>
              <a:latin typeface="Public Sans Heavy"/>
              <a:ea typeface="Public Sans Heavy"/>
              <a:cs typeface="Public Sans Heavy"/>
              <a:sym typeface="Public Sans Heavy"/>
            </a:endParaRPr>
          </a:p>
          <a:p>
            <a:pPr marL="457200" indent="-457200" algn="l">
              <a:buFont typeface="Arial" panose="020B0604020202020204" pitchFamily="34" charset="0"/>
              <a:buChar char="•"/>
            </a:pPr>
            <a:r>
              <a:rPr lang="en-US" sz="3500" b="1" dirty="0">
                <a:solidFill>
                  <a:srgbClr val="222366"/>
                </a:solidFill>
                <a:latin typeface="Public Sans Heavy"/>
                <a:ea typeface="Public Sans Heavy"/>
                <a:cs typeface="Public Sans Heavy"/>
                <a:sym typeface="Public Sans Heavy"/>
              </a:rPr>
              <a:t>Limited Integration of Analysis and Visualization:</a:t>
            </a:r>
          </a:p>
          <a:p>
            <a:pPr algn="l"/>
            <a:r>
              <a:rPr lang="en-US" sz="3500" b="1" dirty="0">
                <a:solidFill>
                  <a:srgbClr val="222366"/>
                </a:solidFill>
                <a:latin typeface="Public Sans Heavy"/>
                <a:ea typeface="Public Sans Heavy"/>
                <a:cs typeface="Public Sans Heavy"/>
                <a:sym typeface="Public Sans Heavy"/>
              </a:rPr>
              <a:t>Existing solutions often split the process of data analysis and visualization into separate tools, requiring users to switch between multiple platforms. This can be time-consuming and may lead to errors or misinterpretations.</a:t>
            </a:r>
          </a:p>
          <a:p>
            <a:pPr algn="l"/>
            <a:endParaRPr lang="en-US" sz="3500" b="1" dirty="0">
              <a:solidFill>
                <a:srgbClr val="222366"/>
              </a:solidFill>
              <a:latin typeface="Public Sans Heavy"/>
              <a:ea typeface="Public Sans Heavy"/>
              <a:cs typeface="Public Sans Heavy"/>
              <a:sym typeface="Public Sans Heavy"/>
            </a:endParaRPr>
          </a:p>
          <a:p>
            <a:pPr algn="l"/>
            <a:r>
              <a:rPr lang="en-US" sz="3500" b="1" dirty="0">
                <a:solidFill>
                  <a:srgbClr val="222366"/>
                </a:solidFill>
                <a:latin typeface="Public Sans Heavy"/>
                <a:ea typeface="Public Sans Heavy"/>
                <a:cs typeface="Public Sans Heavy"/>
                <a:sym typeface="Public Sans Heavy"/>
              </a:rPr>
              <a:t>Impact:</a:t>
            </a:r>
          </a:p>
          <a:p>
            <a:pPr algn="l"/>
            <a:r>
              <a:rPr lang="en-US" sz="3500" b="1" dirty="0">
                <a:solidFill>
                  <a:srgbClr val="222366"/>
                </a:solidFill>
                <a:latin typeface="Public Sans Heavy"/>
                <a:ea typeface="Public Sans Heavy"/>
                <a:cs typeface="Public Sans Heavy"/>
                <a:sym typeface="Public Sans Heavy"/>
              </a:rPr>
              <a:t>Due to these barriers, a lot of valuable insights remain untapped in public genomic data. Researchers, educators, and even clinicians face difficulties in leveraging these datasets effectively, hindering advancements in understanding diseases and discovering new biomarkers.</a:t>
            </a:r>
          </a:p>
          <a:p>
            <a:pPr algn="l">
              <a:lnSpc>
                <a:spcPts val="3105"/>
              </a:lnSpc>
            </a:pPr>
            <a:endParaRPr lang="en-US" sz="2220" b="1" dirty="0">
              <a:solidFill>
                <a:srgbClr val="222366"/>
              </a:solidFill>
              <a:latin typeface="Public Sans Heavy"/>
              <a:ea typeface="Public Sans Heavy"/>
              <a:cs typeface="Public Sans Heavy"/>
              <a:sym typeface="Public Sans Heavy"/>
            </a:endParaRPr>
          </a:p>
        </p:txBody>
      </p:sp>
      <p:sp>
        <p:nvSpPr>
          <p:cNvPr id="11" name="Freeform 14"/>
          <p:cNvSpPr/>
          <p:nvPr/>
        </p:nvSpPr>
        <p:spPr>
          <a:xfrm rot="16099793" flipH="1">
            <a:off x="14597495" y="947235"/>
            <a:ext cx="1402006" cy="1402006"/>
          </a:xfrm>
          <a:custGeom>
            <a:avLst/>
            <a:gdLst/>
            <a:ahLst/>
            <a:cxnLst/>
            <a:rect l="l" t="t" r="r" b="b"/>
            <a:pathLst>
              <a:path w="1402006" h="1402006">
                <a:moveTo>
                  <a:pt x="1402006" y="0"/>
                </a:moveTo>
                <a:lnTo>
                  <a:pt x="0" y="0"/>
                </a:lnTo>
                <a:lnTo>
                  <a:pt x="0" y="1402006"/>
                </a:lnTo>
                <a:lnTo>
                  <a:pt x="1402006" y="1402006"/>
                </a:lnTo>
                <a:lnTo>
                  <a:pt x="1402006" y="0"/>
                </a:lnTo>
                <a:close/>
              </a:path>
            </a:pathLst>
          </a:custGeom>
          <a:blipFill>
            <a:blip r:embed="rId4">
              <a:extLst>
                <a:ext uri="{96DAC541-7B7A-43D3-8B79-37D633B846F1}">
                  <asvg:svgBlip xmlns="" xmlns:asvg="http://schemas.microsoft.com/office/drawing/2016/SVG/main" r:embed="rId16"/>
                </a:ext>
              </a:extLst>
            </a:blip>
            <a:stretch>
              <a:fillRect/>
            </a:stretch>
          </a:blipFill>
        </p:spPr>
      </p:sp>
    </p:spTree>
    <p:extLst>
      <p:ext uri="{BB962C8B-B14F-4D97-AF65-F5344CB8AC3E}">
        <p14:creationId xmlns:p14="http://schemas.microsoft.com/office/powerpoint/2010/main" val="290972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3721612" y="3447873"/>
            <a:ext cx="5923581" cy="5810427"/>
          </a:xfrm>
          <a:custGeom>
            <a:avLst/>
            <a:gdLst/>
            <a:ahLst/>
            <a:cxnLst/>
            <a:rect l="l" t="t" r="r" b="b"/>
            <a:pathLst>
              <a:path w="5923581" h="5810427">
                <a:moveTo>
                  <a:pt x="0" y="0"/>
                </a:moveTo>
                <a:lnTo>
                  <a:pt x="5923581" y="0"/>
                </a:lnTo>
                <a:lnTo>
                  <a:pt x="5923581" y="5810427"/>
                </a:lnTo>
                <a:lnTo>
                  <a:pt x="0" y="581042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0020935" y="-266700"/>
            <a:ext cx="7238365" cy="1053973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579134" y="876297"/>
            <a:ext cx="6398293" cy="8237752"/>
            <a:chOff x="12965" y="17832"/>
            <a:chExt cx="911307" cy="1169099"/>
          </a:xfrm>
        </p:grpSpPr>
        <p:sp>
          <p:nvSpPr>
            <p:cNvPr id="5" name="Freeform 5"/>
            <p:cNvSpPr/>
            <p:nvPr/>
          </p:nvSpPr>
          <p:spPr>
            <a:xfrm>
              <a:off x="13803" y="17832"/>
              <a:ext cx="888430" cy="1169099"/>
            </a:xfrm>
            <a:custGeom>
              <a:avLst/>
              <a:gdLst/>
              <a:ahLst/>
              <a:cxnLst/>
              <a:rect l="l" t="t" r="r" b="b"/>
              <a:pathLst>
                <a:path w="880840" h="1335684">
                  <a:moveTo>
                    <a:pt x="0" y="0"/>
                  </a:moveTo>
                  <a:lnTo>
                    <a:pt x="880840" y="0"/>
                  </a:lnTo>
                  <a:lnTo>
                    <a:pt x="880840" y="1335684"/>
                  </a:lnTo>
                  <a:lnTo>
                    <a:pt x="0" y="1335684"/>
                  </a:lnTo>
                  <a:close/>
                </a:path>
              </a:pathLst>
            </a:custGeom>
            <a:solidFill>
              <a:srgbClr val="E9EAF6"/>
            </a:solidFill>
          </p:spPr>
        </p:sp>
        <p:sp>
          <p:nvSpPr>
            <p:cNvPr id="6" name="TextBox 6"/>
            <p:cNvSpPr txBox="1"/>
            <p:nvPr/>
          </p:nvSpPr>
          <p:spPr>
            <a:xfrm>
              <a:off x="12965" y="223304"/>
              <a:ext cx="911307" cy="818110"/>
            </a:xfrm>
            <a:prstGeom prst="rect">
              <a:avLst/>
            </a:prstGeom>
          </p:spPr>
          <p:txBody>
            <a:bodyPr lIns="50800" tIns="50800" rIns="50800" bIns="50800" rtlCol="0" anchor="ctr"/>
            <a:lstStyle/>
            <a:p>
              <a:pPr algn="l">
                <a:lnSpc>
                  <a:spcPts val="3360"/>
                </a:lnSpc>
              </a:pPr>
              <a:r>
                <a:rPr lang="en-US" altLang="en-US" sz="2000" b="1" dirty="0">
                  <a:solidFill>
                    <a:srgbClr val="222366"/>
                  </a:solidFill>
                  <a:latin typeface="Solway" panose="00000500000000000000"/>
                  <a:ea typeface="Solway" panose="00000500000000000000"/>
                  <a:cs typeface="Solway" panose="00000500000000000000"/>
                  <a:sym typeface="Solway" panose="00000500000000000000"/>
                </a:rPr>
                <a:t>Core Features:</a:t>
              </a:r>
            </a:p>
            <a:p>
              <a:pPr algn="l">
                <a:lnSpc>
                  <a:spcPts val="3360"/>
                </a:lnSpc>
              </a:pPr>
              <a:r>
                <a:rPr lang="en-US" altLang="en-US" sz="2000" b="1" dirty="0">
                  <a:solidFill>
                    <a:srgbClr val="222366"/>
                  </a:solidFill>
                  <a:latin typeface="Solway" panose="00000500000000000000"/>
                  <a:ea typeface="Solway" panose="00000500000000000000"/>
                  <a:cs typeface="Solway" panose="00000500000000000000"/>
                  <a:sym typeface="Solway" panose="00000500000000000000"/>
                </a:rPr>
                <a:t>Data Upload:</a:t>
              </a:r>
            </a:p>
            <a:p>
              <a:pPr algn="l">
                <a:lnSpc>
                  <a:spcPts val="3360"/>
                </a:lnSpc>
              </a:pP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Easy upload of RNA-</a:t>
              </a:r>
              <a:r>
                <a:rPr lang="en-US" altLang="en-US" sz="2000" dirty="0" err="1">
                  <a:solidFill>
                    <a:srgbClr val="222366"/>
                  </a:solidFill>
                  <a:latin typeface="Solway" panose="00000500000000000000"/>
                  <a:ea typeface="Solway" panose="00000500000000000000"/>
                  <a:cs typeface="Solway" panose="00000500000000000000"/>
                  <a:sym typeface="Solway" panose="00000500000000000000"/>
                </a:rPr>
                <a:t>seq</a:t>
              </a: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 or microarray data from public repositories like NCBI GEO.</a:t>
              </a:r>
            </a:p>
            <a:p>
              <a:pPr algn="l">
                <a:lnSpc>
                  <a:spcPts val="3360"/>
                </a:lnSpc>
              </a:pPr>
              <a:endParaRPr lang="en-US" altLang="en-US" sz="2000" dirty="0">
                <a:solidFill>
                  <a:srgbClr val="222366"/>
                </a:solidFill>
                <a:latin typeface="Solway" panose="00000500000000000000"/>
                <a:ea typeface="Solway" panose="00000500000000000000"/>
                <a:cs typeface="Solway" panose="00000500000000000000"/>
                <a:sym typeface="Solway" panose="00000500000000000000"/>
              </a:endParaRPr>
            </a:p>
            <a:p>
              <a:pPr algn="l">
                <a:lnSpc>
                  <a:spcPts val="3360"/>
                </a:lnSpc>
              </a:pPr>
              <a:r>
                <a:rPr lang="en-US" altLang="en-US" sz="2000" b="1" dirty="0">
                  <a:solidFill>
                    <a:srgbClr val="222366"/>
                  </a:solidFill>
                  <a:latin typeface="Solway" panose="00000500000000000000"/>
                  <a:ea typeface="Solway" panose="00000500000000000000"/>
                  <a:cs typeface="Solway" panose="00000500000000000000"/>
                  <a:sym typeface="Solway" panose="00000500000000000000"/>
                </a:rPr>
                <a:t>Differential Gene Expression (DEG) Analysis:</a:t>
              </a:r>
            </a:p>
            <a:p>
              <a:pPr algn="l">
                <a:lnSpc>
                  <a:spcPts val="3360"/>
                </a:lnSpc>
              </a:pP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Automatic DEG analysis to compare gene expression between healthy and diseased samples using established statistical methods.</a:t>
              </a:r>
            </a:p>
            <a:p>
              <a:pPr algn="l">
                <a:lnSpc>
                  <a:spcPts val="3360"/>
                </a:lnSpc>
              </a:pPr>
              <a:endParaRPr lang="en-US" altLang="en-US" sz="2000" dirty="0">
                <a:solidFill>
                  <a:srgbClr val="222366"/>
                </a:solidFill>
                <a:latin typeface="Solway" panose="00000500000000000000"/>
                <a:ea typeface="Solway" panose="00000500000000000000"/>
                <a:cs typeface="Solway" panose="00000500000000000000"/>
                <a:sym typeface="Solway" panose="00000500000000000000"/>
              </a:endParaRPr>
            </a:p>
            <a:p>
              <a:pPr algn="l">
                <a:lnSpc>
                  <a:spcPts val="3360"/>
                </a:lnSpc>
              </a:pPr>
              <a:r>
                <a:rPr lang="en-US" altLang="en-US" sz="2000" b="1" dirty="0">
                  <a:solidFill>
                    <a:srgbClr val="222366"/>
                  </a:solidFill>
                  <a:latin typeface="Solway" panose="00000500000000000000"/>
                  <a:ea typeface="Solway" panose="00000500000000000000"/>
                  <a:cs typeface="Solway" panose="00000500000000000000"/>
                  <a:sym typeface="Solway" panose="00000500000000000000"/>
                </a:rPr>
                <a:t>Interactive Visualizations:</a:t>
              </a:r>
            </a:p>
            <a:p>
              <a:pPr algn="l">
                <a:lnSpc>
                  <a:spcPts val="3360"/>
                </a:lnSpc>
              </a:pP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Intuitive visualizations (volcano plots, </a:t>
              </a:r>
              <a:r>
                <a:rPr lang="en-US" altLang="en-US" sz="2000" dirty="0" err="1">
                  <a:solidFill>
                    <a:srgbClr val="222366"/>
                  </a:solidFill>
                  <a:latin typeface="Solway" panose="00000500000000000000"/>
                  <a:ea typeface="Solway" panose="00000500000000000000"/>
                  <a:cs typeface="Solway" panose="00000500000000000000"/>
                  <a:sym typeface="Solway" panose="00000500000000000000"/>
                </a:rPr>
                <a:t>heatmaps</a:t>
              </a: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 PCA plots) to explore gene expression patterns across samples.</a:t>
              </a:r>
            </a:p>
            <a:p>
              <a:pPr algn="l">
                <a:lnSpc>
                  <a:spcPts val="3360"/>
                </a:lnSpc>
              </a:pPr>
              <a:endParaRPr lang="en-US" altLang="en-US" sz="2000" dirty="0">
                <a:solidFill>
                  <a:srgbClr val="222366"/>
                </a:solidFill>
                <a:latin typeface="Solway" panose="00000500000000000000"/>
                <a:ea typeface="Solway" panose="00000500000000000000"/>
                <a:cs typeface="Solway" panose="00000500000000000000"/>
                <a:sym typeface="Solway" panose="00000500000000000000"/>
              </a:endParaRPr>
            </a:p>
            <a:p>
              <a:pPr algn="l">
                <a:lnSpc>
                  <a:spcPts val="3360"/>
                </a:lnSpc>
              </a:pPr>
              <a:r>
                <a:rPr lang="en-US" altLang="en-US" sz="2000" b="1" dirty="0">
                  <a:solidFill>
                    <a:srgbClr val="222366"/>
                  </a:solidFill>
                  <a:latin typeface="Solway" panose="00000500000000000000"/>
                  <a:ea typeface="Solway" panose="00000500000000000000"/>
                  <a:cs typeface="Solway" panose="00000500000000000000"/>
                  <a:sym typeface="Solway" panose="00000500000000000000"/>
                </a:rPr>
                <a:t>Gene Query:</a:t>
              </a:r>
            </a:p>
            <a:p>
              <a:pPr algn="l">
                <a:lnSpc>
                  <a:spcPts val="3360"/>
                </a:lnSpc>
              </a:pPr>
              <a:r>
                <a:rPr lang="en-US" altLang="en-US" sz="2000" dirty="0">
                  <a:solidFill>
                    <a:srgbClr val="222366"/>
                  </a:solidFill>
                  <a:latin typeface="Solway" panose="00000500000000000000"/>
                  <a:ea typeface="Solway" panose="00000500000000000000"/>
                  <a:cs typeface="Solway" panose="00000500000000000000"/>
                  <a:sym typeface="Solway" panose="00000500000000000000"/>
                </a:rPr>
                <a:t>Search and explore specific genes of interest, and view their expression levels across various conditions or samples.</a:t>
              </a:r>
            </a:p>
            <a:p>
              <a:pPr algn="l">
                <a:lnSpc>
                  <a:spcPts val="3360"/>
                </a:lnSpc>
              </a:pPr>
              <a:endParaRPr lang="en-US" altLang="en-US" sz="2000" dirty="0">
                <a:solidFill>
                  <a:srgbClr val="222366"/>
                </a:solidFill>
                <a:latin typeface="Solway" panose="00000500000000000000"/>
                <a:ea typeface="Solway" panose="00000500000000000000"/>
                <a:cs typeface="Solway" panose="00000500000000000000"/>
                <a:sym typeface="Solway" panose="00000500000000000000"/>
              </a:endParaRPr>
            </a:p>
          </p:txBody>
        </p:sp>
      </p:grpSp>
      <p:sp>
        <p:nvSpPr>
          <p:cNvPr id="7" name="Freeform 7"/>
          <p:cNvSpPr/>
          <p:nvPr/>
        </p:nvSpPr>
        <p:spPr>
          <a:xfrm>
            <a:off x="4714727" y="1838483"/>
            <a:ext cx="6019142" cy="6480906"/>
          </a:xfrm>
          <a:custGeom>
            <a:avLst/>
            <a:gdLst/>
            <a:ahLst/>
            <a:cxnLst/>
            <a:rect l="l" t="t" r="r" b="b"/>
            <a:pathLst>
              <a:path w="6019142" h="6480906">
                <a:moveTo>
                  <a:pt x="0" y="0"/>
                </a:moveTo>
                <a:lnTo>
                  <a:pt x="6019142" y="0"/>
                </a:lnTo>
                <a:lnTo>
                  <a:pt x="6019142" y="6480906"/>
                </a:lnTo>
                <a:lnTo>
                  <a:pt x="0" y="648090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8" name="Freeform 8"/>
          <p:cNvSpPr/>
          <p:nvPr/>
        </p:nvSpPr>
        <p:spPr>
          <a:xfrm rot="-1248570">
            <a:off x="7709921" y="647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9" name="TextBox 9"/>
          <p:cNvSpPr txBox="1"/>
          <p:nvPr/>
        </p:nvSpPr>
        <p:spPr>
          <a:xfrm>
            <a:off x="272815" y="1057481"/>
            <a:ext cx="4537471" cy="8042910"/>
          </a:xfrm>
          <a:prstGeom prst="rect">
            <a:avLst/>
          </a:prstGeom>
        </p:spPr>
        <p:txBody>
          <a:bodyPr lIns="0" tIns="0" rIns="0" bIns="0" rtlCol="0" anchor="t">
            <a:spAutoFit/>
          </a:bodyPr>
          <a:lstStyle/>
          <a:p>
            <a:pPr algn="l">
              <a:lnSpc>
                <a:spcPts val="4480"/>
              </a:lnSpc>
            </a:pPr>
            <a:r>
              <a:rPr lang="en-US" altLang="en-US" sz="2400" b="1" dirty="0">
                <a:solidFill>
                  <a:srgbClr val="222366"/>
                </a:solidFill>
                <a:latin typeface="Public Sans Heavy"/>
                <a:ea typeface="Public Sans Heavy"/>
                <a:cs typeface="Public Sans Heavy"/>
                <a:sym typeface="Public Sans Heavy"/>
              </a:rPr>
              <a:t>Solution Overview:</a:t>
            </a:r>
          </a:p>
          <a:p>
            <a:pPr algn="l">
              <a:lnSpc>
                <a:spcPts val="4480"/>
              </a:lnSpc>
            </a:pPr>
            <a:r>
              <a:rPr lang="en-US" altLang="en-US" sz="2400" dirty="0">
                <a:solidFill>
                  <a:srgbClr val="222366"/>
                </a:solidFill>
                <a:latin typeface="Public Sans Heavy"/>
                <a:ea typeface="Public Sans Heavy"/>
                <a:cs typeface="Public Sans Heavy"/>
                <a:sym typeface="Public Sans Heavy"/>
              </a:rPr>
              <a:t>Gene Expression Explorer is a web-based platform that simplifies the process of analyzing and visualizing gene expression data, making it accessible to both bioinformatics experts and those with little computational background. The tool bridges the gap between raw genomic data and meaningful biological insights.</a:t>
            </a:r>
          </a:p>
        </p:txBody>
      </p:sp>
      <p:sp>
        <p:nvSpPr>
          <p:cNvPr id="10" name="TextBox 10"/>
          <p:cNvSpPr txBox="1"/>
          <p:nvPr/>
        </p:nvSpPr>
        <p:spPr>
          <a:xfrm>
            <a:off x="272815" y="-437961"/>
            <a:ext cx="6979779" cy="1113062"/>
          </a:xfrm>
          <a:prstGeom prst="rect">
            <a:avLst/>
          </a:prstGeom>
        </p:spPr>
        <p:txBody>
          <a:bodyPr lIns="0" tIns="0" rIns="0" bIns="0" rtlCol="0" anchor="t">
            <a:spAutoFit/>
          </a:bodyPr>
          <a:lstStyle/>
          <a:p>
            <a:pPr algn="l">
              <a:lnSpc>
                <a:spcPts val="10500"/>
              </a:lnSpc>
            </a:pPr>
            <a:r>
              <a:rPr lang="en-US" sz="3500" dirty="0">
                <a:solidFill>
                  <a:srgbClr val="222366"/>
                </a:solidFill>
                <a:latin typeface="Public Sans Heavy" panose="020B0604020202020204" charset="0"/>
                <a:ea typeface="Brick Sans"/>
                <a:cs typeface="Brick Sans"/>
                <a:sym typeface="Brick Sans"/>
              </a:rPr>
              <a:t>Our Solution- At a Glance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6242527" y="1074451"/>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252" y="190017"/>
            <a:ext cx="7399403" cy="10287483"/>
          </a:xfrm>
          <a:custGeom>
            <a:avLst/>
            <a:gdLst/>
            <a:ahLst/>
            <a:cxnLst/>
            <a:rect l="l" t="t" r="r" b="b"/>
            <a:pathLst>
              <a:path w="7399403" h="11629710">
                <a:moveTo>
                  <a:pt x="0" y="0"/>
                </a:moveTo>
                <a:lnTo>
                  <a:pt x="7399403" y="0"/>
                </a:lnTo>
                <a:lnTo>
                  <a:pt x="7399403" y="11629709"/>
                </a:lnTo>
                <a:lnTo>
                  <a:pt x="0" y="11629709"/>
                </a:lnTo>
                <a:lnTo>
                  <a:pt x="0" y="0"/>
                </a:lnTo>
                <a:close/>
              </a:path>
            </a:pathLst>
          </a:custGeom>
          <a:blipFill>
            <a:blip r:embed="rId4">
              <a:extLst>
                <a:ext uri="{96DAC541-7B7A-43D3-8B79-37D633B846F1}">
                  <asvg:svgBlip xmlns="" xmlns:asvg="http://schemas.microsoft.com/office/drawing/2016/SVG/main" r:embed="rId5"/>
                </a:ext>
              </a:extLst>
            </a:blip>
            <a:srcRect/>
            <a:stretch>
              <a:fillRect b="-13047"/>
            </a:stretch>
          </a:blipFill>
        </p:spPr>
      </p:sp>
      <p:grpSp>
        <p:nvGrpSpPr>
          <p:cNvPr id="4" name="Group 4"/>
          <p:cNvGrpSpPr/>
          <p:nvPr/>
        </p:nvGrpSpPr>
        <p:grpSpPr>
          <a:xfrm>
            <a:off x="685800" y="1828800"/>
            <a:ext cx="5928360" cy="8072755"/>
            <a:chOff x="0" y="0"/>
            <a:chExt cx="942785" cy="1143920"/>
          </a:xfrm>
        </p:grpSpPr>
        <p:sp>
          <p:nvSpPr>
            <p:cNvPr id="5" name="Freeform 5"/>
            <p:cNvSpPr/>
            <p:nvPr/>
          </p:nvSpPr>
          <p:spPr>
            <a:xfrm>
              <a:off x="0" y="0"/>
              <a:ext cx="942785" cy="1143920"/>
            </a:xfrm>
            <a:custGeom>
              <a:avLst/>
              <a:gdLst/>
              <a:ahLst/>
              <a:cxnLst/>
              <a:rect l="l" t="t" r="r" b="b"/>
              <a:pathLst>
                <a:path w="942785" h="1143920">
                  <a:moveTo>
                    <a:pt x="0" y="0"/>
                  </a:moveTo>
                  <a:lnTo>
                    <a:pt x="942785" y="0"/>
                  </a:lnTo>
                  <a:lnTo>
                    <a:pt x="942785" y="1143920"/>
                  </a:lnTo>
                  <a:lnTo>
                    <a:pt x="0" y="1143920"/>
                  </a:lnTo>
                  <a:close/>
                </a:path>
              </a:pathLst>
            </a:custGeom>
            <a:solidFill>
              <a:srgbClr val="E9EAF6"/>
            </a:solidFill>
          </p:spPr>
        </p:sp>
        <p:sp>
          <p:nvSpPr>
            <p:cNvPr id="6" name="TextBox 6"/>
            <p:cNvSpPr txBox="1"/>
            <p:nvPr/>
          </p:nvSpPr>
          <p:spPr>
            <a:xfrm>
              <a:off x="0" y="-38100"/>
              <a:ext cx="942785" cy="1182020"/>
            </a:xfrm>
            <a:prstGeom prst="rect">
              <a:avLst/>
            </a:prstGeom>
          </p:spPr>
          <p:txBody>
            <a:bodyPr lIns="50800" tIns="50800" rIns="50800" bIns="50800" rtlCol="0" anchor="ctr"/>
            <a:lstStyle/>
            <a:p>
              <a:pPr algn="ctr">
                <a:lnSpc>
                  <a:spcPts val="2660"/>
                </a:lnSpc>
                <a:spcBef>
                  <a:spcPct val="0"/>
                </a:spcBef>
              </a:pPr>
              <a:endParaRPr/>
            </a:p>
          </p:txBody>
        </p:sp>
      </p:grpSp>
      <p:sp>
        <p:nvSpPr>
          <p:cNvPr id="7" name="Freeform 7"/>
          <p:cNvSpPr/>
          <p:nvPr/>
        </p:nvSpPr>
        <p:spPr>
          <a:xfrm>
            <a:off x="10600809" y="226558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8" name="Freeform 8"/>
          <p:cNvSpPr/>
          <p:nvPr/>
        </p:nvSpPr>
        <p:spPr>
          <a:xfrm>
            <a:off x="10820327" y="190342"/>
            <a:ext cx="7399403" cy="10287158"/>
          </a:xfrm>
          <a:custGeom>
            <a:avLst/>
            <a:gdLst/>
            <a:ahLst/>
            <a:cxnLst/>
            <a:rect l="l" t="t" r="r" b="b"/>
            <a:pathLst>
              <a:path w="7399403" h="11629710">
                <a:moveTo>
                  <a:pt x="0" y="0"/>
                </a:moveTo>
                <a:lnTo>
                  <a:pt x="7399403" y="0"/>
                </a:lnTo>
                <a:lnTo>
                  <a:pt x="7399403" y="11629709"/>
                </a:lnTo>
                <a:lnTo>
                  <a:pt x="0" y="11629709"/>
                </a:lnTo>
                <a:lnTo>
                  <a:pt x="0" y="0"/>
                </a:lnTo>
                <a:close/>
              </a:path>
            </a:pathLst>
          </a:custGeom>
          <a:blipFill>
            <a:blip r:embed="rId4">
              <a:extLst>
                <a:ext uri="{96DAC541-7B7A-43D3-8B79-37D633B846F1}">
                  <asvg:svgBlip xmlns="" xmlns:asvg="http://schemas.microsoft.com/office/drawing/2016/SVG/main" r:embed="rId5"/>
                </a:ext>
              </a:extLst>
            </a:blip>
            <a:srcRect/>
            <a:stretch>
              <a:fillRect t="-1" b="-13051"/>
            </a:stretch>
          </a:blipFill>
        </p:spPr>
      </p:sp>
      <p:grpSp>
        <p:nvGrpSpPr>
          <p:cNvPr id="9" name="Group 9"/>
          <p:cNvGrpSpPr/>
          <p:nvPr/>
        </p:nvGrpSpPr>
        <p:grpSpPr>
          <a:xfrm>
            <a:off x="11582670" y="1828904"/>
            <a:ext cx="5728041" cy="8280195"/>
            <a:chOff x="0" y="0"/>
            <a:chExt cx="817629" cy="1181928"/>
          </a:xfrm>
        </p:grpSpPr>
        <p:sp>
          <p:nvSpPr>
            <p:cNvPr id="10" name="Freeform 10"/>
            <p:cNvSpPr/>
            <p:nvPr/>
          </p:nvSpPr>
          <p:spPr>
            <a:xfrm>
              <a:off x="0" y="0"/>
              <a:ext cx="817629" cy="1181927"/>
            </a:xfrm>
            <a:custGeom>
              <a:avLst/>
              <a:gdLst/>
              <a:ahLst/>
              <a:cxnLst/>
              <a:rect l="l" t="t" r="r" b="b"/>
              <a:pathLst>
                <a:path w="817629" h="1181927">
                  <a:moveTo>
                    <a:pt x="0" y="0"/>
                  </a:moveTo>
                  <a:lnTo>
                    <a:pt x="817629" y="0"/>
                  </a:lnTo>
                  <a:lnTo>
                    <a:pt x="817629" y="1181927"/>
                  </a:lnTo>
                  <a:lnTo>
                    <a:pt x="0" y="1181927"/>
                  </a:lnTo>
                  <a:close/>
                </a:path>
              </a:pathLst>
            </a:custGeom>
            <a:solidFill>
              <a:srgbClr val="E9EAF6"/>
            </a:solidFill>
          </p:spPr>
        </p:sp>
        <p:sp>
          <p:nvSpPr>
            <p:cNvPr id="11" name="TextBox 11"/>
            <p:cNvSpPr txBox="1"/>
            <p:nvPr/>
          </p:nvSpPr>
          <p:spPr>
            <a:xfrm>
              <a:off x="0" y="-38100"/>
              <a:ext cx="817629" cy="1220028"/>
            </a:xfrm>
            <a:prstGeom prst="rect">
              <a:avLst/>
            </a:prstGeom>
          </p:spPr>
          <p:txBody>
            <a:bodyPr lIns="50800" tIns="50800" rIns="50800" bIns="50800" rtlCol="0" anchor="ctr"/>
            <a:lstStyle/>
            <a:p>
              <a:pPr algn="ctr">
                <a:lnSpc>
                  <a:spcPts val="2660"/>
                </a:lnSpc>
                <a:spcBef>
                  <a:spcPct val="0"/>
                </a:spcBef>
              </a:pPr>
              <a:endParaRPr/>
            </a:p>
          </p:txBody>
        </p:sp>
      </p:grpSp>
      <p:sp>
        <p:nvSpPr>
          <p:cNvPr id="13" name="Freeform 13"/>
          <p:cNvSpPr/>
          <p:nvPr/>
        </p:nvSpPr>
        <p:spPr>
          <a:xfrm rot="-137149">
            <a:off x="9171401" y="3701601"/>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4" name="TextBox 14"/>
          <p:cNvSpPr txBox="1"/>
          <p:nvPr/>
        </p:nvSpPr>
        <p:spPr>
          <a:xfrm>
            <a:off x="838200" y="2247900"/>
            <a:ext cx="5997575" cy="8011160"/>
          </a:xfrm>
          <a:prstGeom prst="rect">
            <a:avLst/>
          </a:prstGeom>
        </p:spPr>
        <p:txBody>
          <a:bodyPr lIns="0" tIns="0" rIns="0" bIns="0" rtlCol="0" anchor="t">
            <a:noAutofit/>
          </a:bodyPr>
          <a:lstStyle/>
          <a:p>
            <a:pPr algn="l">
              <a:lnSpc>
                <a:spcPts val="3500"/>
              </a:lnSpc>
            </a:pPr>
            <a:r>
              <a:rPr lang="en-US" altLang="en-US" sz="2400">
                <a:solidFill>
                  <a:srgbClr val="222366"/>
                </a:solidFill>
                <a:latin typeface="Public Sans"/>
                <a:ea typeface="Public Sans"/>
                <a:cs typeface="Public Sans"/>
                <a:sym typeface="Public Sans"/>
              </a:rPr>
              <a:t>Gene Expression Explorer is a user-friendly, web-based platform designed to facilitate the analysis of gene expression data, particularly from NCBI GEO, to compare gene expression between healthy and diseased samples. The tool simplifies the traditionally complex process of genomic data analysis and visualization.</a:t>
            </a:r>
            <a:r>
              <a:rPr lang="en-US" altLang="en-US" sz="2500">
                <a:solidFill>
                  <a:srgbClr val="222366"/>
                </a:solidFill>
                <a:latin typeface="Public Sans"/>
                <a:ea typeface="Public Sans"/>
                <a:cs typeface="Public Sans"/>
                <a:sym typeface="Public Sans"/>
              </a:rPr>
              <a:t/>
            </a:r>
            <a:br>
              <a:rPr lang="en-US" altLang="en-US" sz="2500">
                <a:solidFill>
                  <a:srgbClr val="222366"/>
                </a:solidFill>
                <a:latin typeface="Public Sans"/>
                <a:ea typeface="Public Sans"/>
                <a:cs typeface="Public Sans"/>
                <a:sym typeface="Public Sans"/>
              </a:rPr>
            </a:br>
            <a:r>
              <a:rPr lang="en-US" altLang="en-US" sz="2500" b="1">
                <a:solidFill>
                  <a:srgbClr val="222366"/>
                </a:solidFill>
                <a:latin typeface="Public Sans Heavy"/>
                <a:ea typeface="Public Sans Heavy"/>
                <a:cs typeface="Public Sans Heavy"/>
                <a:sym typeface="Public Sans Heavy"/>
              </a:rPr>
              <a:t>Objective:</a:t>
            </a:r>
          </a:p>
          <a:p>
            <a:pPr algn="l">
              <a:lnSpc>
                <a:spcPts val="3500"/>
              </a:lnSpc>
            </a:pPr>
            <a:r>
              <a:rPr lang="en-US" altLang="en-US" sz="2500">
                <a:solidFill>
                  <a:srgbClr val="222366"/>
                </a:solidFill>
                <a:latin typeface="Public Sans"/>
                <a:ea typeface="Public Sans"/>
                <a:cs typeface="Public Sans"/>
                <a:sym typeface="Public Sans"/>
              </a:rPr>
              <a:t>The primary goal of Gene Expression Explorer is to make the process of gene expression analysis more accessible, user-friendly, and interactive, empowering researchers and clinicians to derive meaningful insights from genomic data without needing advanced bioinformatics expertise.</a:t>
            </a:r>
          </a:p>
        </p:txBody>
      </p:sp>
      <p:sp>
        <p:nvSpPr>
          <p:cNvPr id="15" name="TextBox 15"/>
          <p:cNvSpPr txBox="1"/>
          <p:nvPr/>
        </p:nvSpPr>
        <p:spPr>
          <a:xfrm>
            <a:off x="11582400" y="2324100"/>
            <a:ext cx="5987415" cy="8047355"/>
          </a:xfrm>
          <a:prstGeom prst="rect">
            <a:avLst/>
          </a:prstGeom>
        </p:spPr>
        <p:txBody>
          <a:bodyPr lIns="0" tIns="0" rIns="0" bIns="0" rtlCol="0" anchor="t">
            <a:noAutofit/>
          </a:bodyPr>
          <a:lstStyle/>
          <a:p>
            <a:pPr marL="539750" lvl="1" indent="-269875" algn="l">
              <a:lnSpc>
                <a:spcPts val="3500"/>
              </a:lnSpc>
              <a:buFont typeface="Arial" panose="020B0604020202020204"/>
              <a:buChar char="•"/>
            </a:pPr>
            <a:r>
              <a:rPr lang="en-US" altLang="en-US" sz="2400">
                <a:solidFill>
                  <a:srgbClr val="222366"/>
                </a:solidFill>
                <a:latin typeface="Public Sans"/>
                <a:ea typeface="Public Sans"/>
                <a:cs typeface="Public Sans"/>
                <a:sym typeface="Public Sans"/>
              </a:rPr>
              <a:t>Upload Gene Expression Data: The tool allows users to easily upload RNA-seq or microarray data, streamlining the process of data integration.</a:t>
            </a:r>
          </a:p>
          <a:p>
            <a:pPr marL="539750" lvl="1" indent="-269875" algn="l">
              <a:lnSpc>
                <a:spcPts val="3500"/>
              </a:lnSpc>
              <a:buFont typeface="Arial" panose="020B0604020202020204"/>
              <a:buChar char="•"/>
            </a:pPr>
            <a:r>
              <a:rPr lang="en-US" altLang="en-US" sz="2400">
                <a:solidFill>
                  <a:srgbClr val="222366"/>
                </a:solidFill>
                <a:latin typeface="Public Sans"/>
                <a:ea typeface="Public Sans"/>
                <a:cs typeface="Public Sans"/>
                <a:sym typeface="Public Sans"/>
              </a:rPr>
              <a:t>Statistical Analysis: Built-in statistical tools perform differential gene expression analysis, identifying genes that show significant differences in expression between conditions (healthy vs diseased).</a:t>
            </a:r>
          </a:p>
          <a:p>
            <a:pPr marL="539750" lvl="1" indent="-269875" algn="l">
              <a:lnSpc>
                <a:spcPts val="3500"/>
              </a:lnSpc>
              <a:buFont typeface="Arial" panose="020B0604020202020204"/>
              <a:buChar char="•"/>
            </a:pPr>
            <a:r>
              <a:rPr lang="en-US" altLang="en-US" sz="2400">
                <a:solidFill>
                  <a:srgbClr val="222366"/>
                </a:solidFill>
                <a:latin typeface="Public Sans"/>
                <a:ea typeface="Public Sans"/>
                <a:cs typeface="Public Sans"/>
                <a:sym typeface="Public Sans"/>
              </a:rPr>
              <a:t>Visualization: The platform generates interactive visualizations, such as volcano plots, heatmaps, and PCA plots, that enable users to quickly grasp gene expression patterns and understand their biological significance.</a:t>
            </a:r>
          </a:p>
        </p:txBody>
      </p:sp>
      <p:sp>
        <p:nvSpPr>
          <p:cNvPr id="16" name="TextBox 16"/>
          <p:cNvSpPr txBox="1"/>
          <p:nvPr/>
        </p:nvSpPr>
        <p:spPr>
          <a:xfrm>
            <a:off x="674665" y="1758593"/>
            <a:ext cx="6193005" cy="574040"/>
          </a:xfrm>
          <a:prstGeom prst="rect">
            <a:avLst/>
          </a:prstGeom>
        </p:spPr>
        <p:txBody>
          <a:bodyPr lIns="0" tIns="0" rIns="0" bIns="0" rtlCol="0" anchor="t">
            <a:spAutoFit/>
          </a:bodyPr>
          <a:lstStyle/>
          <a:p>
            <a:pPr algn="ctr">
              <a:lnSpc>
                <a:spcPts val="4480"/>
              </a:lnSpc>
            </a:pPr>
            <a:r>
              <a:rPr lang="en-US" altLang="en-US" sz="3200" b="1" dirty="0">
                <a:solidFill>
                  <a:srgbClr val="222366"/>
                </a:solidFill>
                <a:latin typeface="Public Sans Heavy"/>
                <a:ea typeface="Public Sans Heavy"/>
                <a:cs typeface="Public Sans Heavy"/>
                <a:sym typeface="Public Sans Heavy"/>
              </a:rPr>
              <a:t>Overview</a:t>
            </a:r>
          </a:p>
        </p:txBody>
      </p:sp>
      <p:sp>
        <p:nvSpPr>
          <p:cNvPr id="17" name="TextBox 17"/>
          <p:cNvSpPr txBox="1"/>
          <p:nvPr/>
        </p:nvSpPr>
        <p:spPr>
          <a:xfrm>
            <a:off x="-3200342" y="190652"/>
            <a:ext cx="14228697" cy="1148841"/>
          </a:xfrm>
          <a:prstGeom prst="rect">
            <a:avLst/>
          </a:prstGeom>
        </p:spPr>
        <p:txBody>
          <a:bodyPr lIns="0" tIns="0" rIns="0" bIns="0" rtlCol="0" anchor="t">
            <a:spAutoFit/>
          </a:bodyPr>
          <a:lstStyle/>
          <a:p>
            <a:pPr algn="r">
              <a:lnSpc>
                <a:spcPts val="9800"/>
              </a:lnSpc>
            </a:pPr>
            <a:r>
              <a:rPr lang="en-US" altLang="en-US" sz="7000" dirty="0">
                <a:solidFill>
                  <a:srgbClr val="222366"/>
                </a:solidFill>
                <a:latin typeface="Public Sans Heavy" panose="020B0604020202020204" charset="0"/>
                <a:ea typeface="Brick Sans"/>
                <a:cs typeface="Brick Sans"/>
                <a:sym typeface="Brick Sans"/>
              </a:rPr>
              <a:t>Abstract</a:t>
            </a:r>
          </a:p>
        </p:txBody>
      </p:sp>
      <p:sp>
        <p:nvSpPr>
          <p:cNvPr id="18" name="TextBox 18"/>
          <p:cNvSpPr txBox="1"/>
          <p:nvPr/>
        </p:nvSpPr>
        <p:spPr>
          <a:xfrm>
            <a:off x="11963462" y="1790804"/>
            <a:ext cx="4925174" cy="574040"/>
          </a:xfrm>
          <a:prstGeom prst="rect">
            <a:avLst/>
          </a:prstGeom>
        </p:spPr>
        <p:txBody>
          <a:bodyPr lIns="0" tIns="0" rIns="0" bIns="0" rtlCol="0" anchor="t">
            <a:spAutoFit/>
          </a:bodyPr>
          <a:lstStyle/>
          <a:p>
            <a:pPr algn="ctr">
              <a:lnSpc>
                <a:spcPts val="4480"/>
              </a:lnSpc>
            </a:pPr>
            <a:r>
              <a:rPr lang="en-US" altLang="en-US" sz="3200" b="1">
                <a:solidFill>
                  <a:srgbClr val="222366"/>
                </a:solidFill>
                <a:latin typeface="Public Sans Heavy"/>
                <a:ea typeface="Public Sans Heavy"/>
                <a:cs typeface="Public Sans Heavy"/>
                <a:sym typeface="Public Sans Heavy"/>
              </a:rPr>
              <a:t>Key Functions: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027388" y="-470367"/>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3089251" y="-95651"/>
            <a:ext cx="5274949"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rcRect/>
            <a:stretch>
              <a:fillRect r="-39280"/>
            </a:stretch>
          </a:blipFill>
        </p:spPr>
      </p:sp>
      <p:grpSp>
        <p:nvGrpSpPr>
          <p:cNvPr id="4" name="Group 4"/>
          <p:cNvGrpSpPr/>
          <p:nvPr/>
        </p:nvGrpSpPr>
        <p:grpSpPr>
          <a:xfrm>
            <a:off x="304800" y="1861854"/>
            <a:ext cx="9121360" cy="3569006"/>
            <a:chOff x="0" y="0"/>
            <a:chExt cx="883555" cy="381469"/>
          </a:xfrm>
        </p:grpSpPr>
        <p:sp>
          <p:nvSpPr>
            <p:cNvPr id="5" name="Freeform 5"/>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6" name="TextBox 6"/>
            <p:cNvSpPr txBox="1"/>
            <p:nvPr/>
          </p:nvSpPr>
          <p:spPr>
            <a:xfrm>
              <a:off x="0" y="-38100"/>
              <a:ext cx="883555" cy="419569"/>
            </a:xfrm>
            <a:prstGeom prst="rect">
              <a:avLst/>
            </a:prstGeom>
          </p:spPr>
          <p:txBody>
            <a:bodyPr lIns="50800" tIns="50800" rIns="50800" bIns="50800" rtlCol="0" anchor="ctr"/>
            <a:lstStyle/>
            <a:p>
              <a:pPr algn="ctr">
                <a:lnSpc>
                  <a:spcPts val="2660"/>
                </a:lnSpc>
              </a:pPr>
              <a:endParaRPr/>
            </a:p>
          </p:txBody>
        </p:sp>
      </p:grpSp>
      <p:grpSp>
        <p:nvGrpSpPr>
          <p:cNvPr id="7" name="Group 7"/>
          <p:cNvGrpSpPr/>
          <p:nvPr/>
        </p:nvGrpSpPr>
        <p:grpSpPr>
          <a:xfrm>
            <a:off x="-1" y="5941502"/>
            <a:ext cx="9987007" cy="4345498"/>
            <a:chOff x="-722" y="-35176"/>
            <a:chExt cx="961524" cy="421709"/>
          </a:xfrm>
        </p:grpSpPr>
        <p:sp>
          <p:nvSpPr>
            <p:cNvPr id="8" name="Freeform 8"/>
            <p:cNvSpPr/>
            <p:nvPr/>
          </p:nvSpPr>
          <p:spPr>
            <a:xfrm>
              <a:off x="-722" y="-35176"/>
              <a:ext cx="961524" cy="421709"/>
            </a:xfrm>
            <a:custGeom>
              <a:avLst/>
              <a:gdLst/>
              <a:ahLst/>
              <a:cxnLst/>
              <a:rect l="l" t="t" r="r" b="b"/>
              <a:pathLst>
                <a:path w="961524" h="386533">
                  <a:moveTo>
                    <a:pt x="758324" y="0"/>
                  </a:moveTo>
                  <a:cubicBezTo>
                    <a:pt x="870549" y="0"/>
                    <a:pt x="961524" y="86528"/>
                    <a:pt x="961524" y="193267"/>
                  </a:cubicBezTo>
                  <a:cubicBezTo>
                    <a:pt x="961524" y="300005"/>
                    <a:pt x="870549" y="386533"/>
                    <a:pt x="758324" y="386533"/>
                  </a:cubicBezTo>
                  <a:lnTo>
                    <a:pt x="203200" y="386533"/>
                  </a:lnTo>
                  <a:cubicBezTo>
                    <a:pt x="90976" y="386533"/>
                    <a:pt x="0" y="300005"/>
                    <a:pt x="0" y="193267"/>
                  </a:cubicBezTo>
                  <a:cubicBezTo>
                    <a:pt x="0" y="86528"/>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86322"/>
              <a:ext cx="867935" cy="300211"/>
            </a:xfrm>
            <a:prstGeom prst="rect">
              <a:avLst/>
            </a:prstGeom>
          </p:spPr>
          <p:txBody>
            <a:bodyPr lIns="50800" tIns="50800" rIns="50800" bIns="50800" rtlCol="0" anchor="ctr"/>
            <a:lstStyle/>
            <a:p>
              <a:pPr algn="ctr">
                <a:lnSpc>
                  <a:spcPts val="2660"/>
                </a:lnSpc>
              </a:pPr>
              <a:endParaRPr/>
            </a:p>
          </p:txBody>
        </p:sp>
      </p:grpSp>
      <p:sp>
        <p:nvSpPr>
          <p:cNvPr id="10" name="Freeform 10"/>
          <p:cNvSpPr/>
          <p:nvPr/>
        </p:nvSpPr>
        <p:spPr>
          <a:xfrm rot="-1793077">
            <a:off x="16753875" y="5153036"/>
            <a:ext cx="1434104" cy="1756795"/>
          </a:xfrm>
          <a:custGeom>
            <a:avLst/>
            <a:gdLst/>
            <a:ahLst/>
            <a:cxnLst/>
            <a:rect l="l" t="t" r="r" b="b"/>
            <a:pathLst>
              <a:path w="2859370" h="3981402">
                <a:moveTo>
                  <a:pt x="0" y="0"/>
                </a:moveTo>
                <a:lnTo>
                  <a:pt x="2859370" y="0"/>
                </a:lnTo>
                <a:lnTo>
                  <a:pt x="2859370" y="3981402"/>
                </a:lnTo>
                <a:lnTo>
                  <a:pt x="0" y="3981402"/>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sp>
        <p:nvSpPr>
          <p:cNvPr id="11" name="Freeform 11"/>
          <p:cNvSpPr/>
          <p:nvPr/>
        </p:nvSpPr>
        <p:spPr>
          <a:xfrm rot="855077">
            <a:off x="83875" y="83684"/>
            <a:ext cx="1719319" cy="1563702"/>
          </a:xfrm>
          <a:custGeom>
            <a:avLst/>
            <a:gdLst/>
            <a:ahLst/>
            <a:cxnLst/>
            <a:rect l="l" t="t" r="r" b="b"/>
            <a:pathLst>
              <a:path w="2752419" h="3173649">
                <a:moveTo>
                  <a:pt x="0" y="0"/>
                </a:moveTo>
                <a:lnTo>
                  <a:pt x="2752420" y="0"/>
                </a:lnTo>
                <a:lnTo>
                  <a:pt x="2752420" y="3173649"/>
                </a:lnTo>
                <a:lnTo>
                  <a:pt x="0" y="3173649"/>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2" name="Freeform 12"/>
          <p:cNvSpPr/>
          <p:nvPr/>
        </p:nvSpPr>
        <p:spPr>
          <a:xfrm rot="-137149">
            <a:off x="16394154" y="-1002"/>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3" name="Freeform 13"/>
          <p:cNvSpPr/>
          <p:nvPr/>
        </p:nvSpPr>
        <p:spPr>
          <a:xfrm rot="-137149">
            <a:off x="8710" y="5165706"/>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grpSp>
        <p:nvGrpSpPr>
          <p:cNvPr id="14" name="Group 14"/>
          <p:cNvGrpSpPr/>
          <p:nvPr/>
        </p:nvGrpSpPr>
        <p:grpSpPr>
          <a:xfrm>
            <a:off x="9649519" y="1891820"/>
            <a:ext cx="8567340" cy="3539039"/>
            <a:chOff x="0" y="0"/>
            <a:chExt cx="883555" cy="381469"/>
          </a:xfrm>
        </p:grpSpPr>
        <p:sp>
          <p:nvSpPr>
            <p:cNvPr id="15" name="Freeform 15"/>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16" name="TextBox 16"/>
            <p:cNvSpPr txBox="1"/>
            <p:nvPr/>
          </p:nvSpPr>
          <p:spPr>
            <a:xfrm>
              <a:off x="0" y="-38100"/>
              <a:ext cx="883555" cy="419569"/>
            </a:xfrm>
            <a:prstGeom prst="rect">
              <a:avLst/>
            </a:prstGeom>
          </p:spPr>
          <p:txBody>
            <a:bodyPr lIns="50800" tIns="50800" rIns="50800" bIns="50800" rtlCol="0" anchor="ctr"/>
            <a:lstStyle/>
            <a:p>
              <a:pPr algn="ctr">
                <a:lnSpc>
                  <a:spcPts val="2660"/>
                </a:lnSpc>
              </a:pPr>
              <a:endParaRPr/>
            </a:p>
          </p:txBody>
        </p:sp>
      </p:grpSp>
      <p:grpSp>
        <p:nvGrpSpPr>
          <p:cNvPr id="17" name="Group 17"/>
          <p:cNvGrpSpPr/>
          <p:nvPr/>
        </p:nvGrpSpPr>
        <p:grpSpPr>
          <a:xfrm>
            <a:off x="10165303" y="6568429"/>
            <a:ext cx="7836556" cy="3438553"/>
            <a:chOff x="0" y="0"/>
            <a:chExt cx="883555" cy="381469"/>
          </a:xfrm>
        </p:grpSpPr>
        <p:sp>
          <p:nvSpPr>
            <p:cNvPr id="18" name="Freeform 18"/>
            <p:cNvSpPr/>
            <p:nvPr/>
          </p:nvSpPr>
          <p:spPr>
            <a:xfrm>
              <a:off x="0" y="0"/>
              <a:ext cx="883555" cy="381469"/>
            </a:xfrm>
            <a:custGeom>
              <a:avLst/>
              <a:gdLst/>
              <a:ahLst/>
              <a:cxnLst/>
              <a:rect l="l" t="t" r="r" b="b"/>
              <a:pathLst>
                <a:path w="883555" h="381469">
                  <a:moveTo>
                    <a:pt x="680355" y="0"/>
                  </a:moveTo>
                  <a:cubicBezTo>
                    <a:pt x="792579" y="0"/>
                    <a:pt x="883555" y="85395"/>
                    <a:pt x="883555" y="190734"/>
                  </a:cubicBezTo>
                  <a:cubicBezTo>
                    <a:pt x="883555" y="296074"/>
                    <a:pt x="792579" y="381469"/>
                    <a:pt x="680355" y="381469"/>
                  </a:cubicBezTo>
                  <a:lnTo>
                    <a:pt x="203200" y="381469"/>
                  </a:lnTo>
                  <a:cubicBezTo>
                    <a:pt x="90976" y="381469"/>
                    <a:pt x="0" y="296074"/>
                    <a:pt x="0" y="190734"/>
                  </a:cubicBezTo>
                  <a:cubicBezTo>
                    <a:pt x="0" y="85395"/>
                    <a:pt x="90976" y="0"/>
                    <a:pt x="203200" y="0"/>
                  </a:cubicBezTo>
                  <a:close/>
                </a:path>
              </a:pathLst>
            </a:custGeom>
            <a:solidFill>
              <a:srgbClr val="E9EAF6"/>
            </a:solidFill>
            <a:ln w="19050" cap="sq">
              <a:solidFill>
                <a:srgbClr val="414370"/>
              </a:solidFill>
              <a:prstDash val="lgDash"/>
              <a:miter/>
            </a:ln>
          </p:spPr>
        </p:sp>
        <p:sp>
          <p:nvSpPr>
            <p:cNvPr id="19" name="TextBox 19"/>
            <p:cNvSpPr txBox="1"/>
            <p:nvPr/>
          </p:nvSpPr>
          <p:spPr>
            <a:xfrm>
              <a:off x="0" y="-38100"/>
              <a:ext cx="883555" cy="419569"/>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1438118" y="1312392"/>
            <a:ext cx="7020081" cy="787959"/>
            <a:chOff x="0" y="0"/>
            <a:chExt cx="2860316" cy="381469"/>
          </a:xfrm>
        </p:grpSpPr>
        <p:sp>
          <p:nvSpPr>
            <p:cNvPr id="21" name="Freeform 21"/>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2" name="TextBox 22"/>
            <p:cNvSpPr txBox="1"/>
            <p:nvPr/>
          </p:nvSpPr>
          <p:spPr>
            <a:xfrm>
              <a:off x="0" y="-38100"/>
              <a:ext cx="2860316" cy="419569"/>
            </a:xfrm>
            <a:prstGeom prst="rect">
              <a:avLst/>
            </a:prstGeom>
          </p:spPr>
          <p:txBody>
            <a:bodyPr lIns="50800" tIns="50800" rIns="50800" bIns="50800" rtlCol="0" anchor="ctr"/>
            <a:lstStyle/>
            <a:p>
              <a:pPr algn="ctr">
                <a:lnSpc>
                  <a:spcPts val="2660"/>
                </a:lnSpc>
              </a:pPr>
              <a:endParaRPr/>
            </a:p>
          </p:txBody>
        </p:sp>
      </p:grpSp>
      <p:grpSp>
        <p:nvGrpSpPr>
          <p:cNvPr id="23" name="Group 23"/>
          <p:cNvGrpSpPr/>
          <p:nvPr/>
        </p:nvGrpSpPr>
        <p:grpSpPr>
          <a:xfrm>
            <a:off x="9649519" y="1278844"/>
            <a:ext cx="8272489" cy="730076"/>
            <a:chOff x="0" y="0"/>
            <a:chExt cx="2860316" cy="381469"/>
          </a:xfrm>
        </p:grpSpPr>
        <p:sp>
          <p:nvSpPr>
            <p:cNvPr id="24" name="Freeform 24"/>
            <p:cNvSpPr/>
            <p:nvPr/>
          </p:nvSpPr>
          <p:spPr>
            <a:xfrm>
              <a:off x="0" y="0"/>
              <a:ext cx="2860316" cy="381469"/>
            </a:xfrm>
            <a:custGeom>
              <a:avLst/>
              <a:gdLst/>
              <a:ahLst/>
              <a:cxnLst/>
              <a:rect l="l" t="t" r="r" b="b"/>
              <a:pathLst>
                <a:path w="2860316" h="381469">
                  <a:moveTo>
                    <a:pt x="2657116" y="0"/>
                  </a:moveTo>
                  <a:cubicBezTo>
                    <a:pt x="2769341" y="0"/>
                    <a:pt x="2860316" y="85395"/>
                    <a:pt x="2860316" y="190734"/>
                  </a:cubicBezTo>
                  <a:cubicBezTo>
                    <a:pt x="2860316" y="296074"/>
                    <a:pt x="2769341" y="381469"/>
                    <a:pt x="2657116"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25" name="TextBox 25"/>
            <p:cNvSpPr txBox="1"/>
            <p:nvPr/>
          </p:nvSpPr>
          <p:spPr>
            <a:xfrm>
              <a:off x="0" y="-38100"/>
              <a:ext cx="2860316" cy="419569"/>
            </a:xfrm>
            <a:prstGeom prst="rect">
              <a:avLst/>
            </a:prstGeom>
          </p:spPr>
          <p:txBody>
            <a:bodyPr lIns="50800" tIns="50800" rIns="50800" bIns="50800" rtlCol="0" anchor="ctr"/>
            <a:lstStyle/>
            <a:p>
              <a:pPr algn="ctr">
                <a:lnSpc>
                  <a:spcPts val="2660"/>
                </a:lnSpc>
              </a:pPr>
              <a:endParaRPr/>
            </a:p>
          </p:txBody>
        </p:sp>
      </p:grpSp>
      <p:grpSp>
        <p:nvGrpSpPr>
          <p:cNvPr id="26" name="Group 26"/>
          <p:cNvGrpSpPr/>
          <p:nvPr/>
        </p:nvGrpSpPr>
        <p:grpSpPr>
          <a:xfrm>
            <a:off x="1600103" y="5778342"/>
            <a:ext cx="6353087" cy="466404"/>
            <a:chOff x="0" y="0"/>
            <a:chExt cx="2860316" cy="217894"/>
          </a:xfrm>
        </p:grpSpPr>
        <p:sp>
          <p:nvSpPr>
            <p:cNvPr id="27" name="Freeform 27"/>
            <p:cNvSpPr/>
            <p:nvPr/>
          </p:nvSpPr>
          <p:spPr>
            <a:xfrm>
              <a:off x="0" y="0"/>
              <a:ext cx="2860316" cy="217894"/>
            </a:xfrm>
            <a:custGeom>
              <a:avLst/>
              <a:gdLst/>
              <a:ahLst/>
              <a:cxnLst/>
              <a:rect l="l" t="t" r="r" b="b"/>
              <a:pathLst>
                <a:path w="2860316" h="217894">
                  <a:moveTo>
                    <a:pt x="2657116" y="0"/>
                  </a:moveTo>
                  <a:cubicBezTo>
                    <a:pt x="2769341" y="0"/>
                    <a:pt x="2860316" y="48777"/>
                    <a:pt x="2860316" y="108947"/>
                  </a:cubicBezTo>
                  <a:cubicBezTo>
                    <a:pt x="2860316" y="169117"/>
                    <a:pt x="2769341" y="217894"/>
                    <a:pt x="2657116" y="217894"/>
                  </a:cubicBezTo>
                  <a:lnTo>
                    <a:pt x="203200" y="217894"/>
                  </a:lnTo>
                  <a:cubicBezTo>
                    <a:pt x="90976" y="217894"/>
                    <a:pt x="0" y="169117"/>
                    <a:pt x="0" y="108947"/>
                  </a:cubicBezTo>
                  <a:cubicBezTo>
                    <a:pt x="0" y="48777"/>
                    <a:pt x="90976" y="0"/>
                    <a:pt x="203200" y="0"/>
                  </a:cubicBezTo>
                  <a:close/>
                </a:path>
              </a:pathLst>
            </a:custGeom>
            <a:solidFill>
              <a:srgbClr val="BDD2EA"/>
            </a:solidFill>
          </p:spPr>
        </p:sp>
        <p:sp>
          <p:nvSpPr>
            <p:cNvPr id="28" name="TextBox 28"/>
            <p:cNvSpPr txBox="1"/>
            <p:nvPr/>
          </p:nvSpPr>
          <p:spPr>
            <a:xfrm>
              <a:off x="0" y="-38100"/>
              <a:ext cx="2860316" cy="255994"/>
            </a:xfrm>
            <a:prstGeom prst="rect">
              <a:avLst/>
            </a:prstGeom>
          </p:spPr>
          <p:txBody>
            <a:bodyPr lIns="50800" tIns="50800" rIns="50800" bIns="50800" rtlCol="0" anchor="ctr"/>
            <a:lstStyle/>
            <a:p>
              <a:pPr algn="ctr">
                <a:lnSpc>
                  <a:spcPts val="2660"/>
                </a:lnSpc>
              </a:pPr>
              <a:endParaRPr/>
            </a:p>
          </p:txBody>
        </p:sp>
      </p:grpSp>
      <p:grpSp>
        <p:nvGrpSpPr>
          <p:cNvPr id="29" name="Group 29"/>
          <p:cNvGrpSpPr/>
          <p:nvPr/>
        </p:nvGrpSpPr>
        <p:grpSpPr>
          <a:xfrm>
            <a:off x="11014393" y="6247822"/>
            <a:ext cx="5900990" cy="534329"/>
            <a:chOff x="0" y="0"/>
            <a:chExt cx="2996338" cy="381469"/>
          </a:xfrm>
        </p:grpSpPr>
        <p:sp>
          <p:nvSpPr>
            <p:cNvPr id="30" name="Freeform 30"/>
            <p:cNvSpPr/>
            <p:nvPr/>
          </p:nvSpPr>
          <p:spPr>
            <a:xfrm>
              <a:off x="0" y="0"/>
              <a:ext cx="2996338" cy="381469"/>
            </a:xfrm>
            <a:custGeom>
              <a:avLst/>
              <a:gdLst/>
              <a:ahLst/>
              <a:cxnLst/>
              <a:rect l="l" t="t" r="r" b="b"/>
              <a:pathLst>
                <a:path w="2996338" h="381469">
                  <a:moveTo>
                    <a:pt x="2793138" y="0"/>
                  </a:moveTo>
                  <a:cubicBezTo>
                    <a:pt x="2905362" y="0"/>
                    <a:pt x="2996338" y="85395"/>
                    <a:pt x="2996338" y="190734"/>
                  </a:cubicBezTo>
                  <a:cubicBezTo>
                    <a:pt x="2996338" y="296074"/>
                    <a:pt x="2905362" y="381469"/>
                    <a:pt x="2793138" y="381469"/>
                  </a:cubicBezTo>
                  <a:lnTo>
                    <a:pt x="203200" y="381469"/>
                  </a:lnTo>
                  <a:cubicBezTo>
                    <a:pt x="90976" y="381469"/>
                    <a:pt x="0" y="296074"/>
                    <a:pt x="0" y="190734"/>
                  </a:cubicBezTo>
                  <a:cubicBezTo>
                    <a:pt x="0" y="85395"/>
                    <a:pt x="90976" y="0"/>
                    <a:pt x="203200" y="0"/>
                  </a:cubicBezTo>
                  <a:close/>
                </a:path>
              </a:pathLst>
            </a:custGeom>
            <a:solidFill>
              <a:srgbClr val="BDD2EA"/>
            </a:solidFill>
          </p:spPr>
        </p:sp>
        <p:sp>
          <p:nvSpPr>
            <p:cNvPr id="31" name="TextBox 31"/>
            <p:cNvSpPr txBox="1"/>
            <p:nvPr/>
          </p:nvSpPr>
          <p:spPr>
            <a:xfrm>
              <a:off x="0" y="-38100"/>
              <a:ext cx="2996338" cy="419569"/>
            </a:xfrm>
            <a:prstGeom prst="rect">
              <a:avLst/>
            </a:prstGeom>
          </p:spPr>
          <p:txBody>
            <a:bodyPr lIns="50800" tIns="50800" rIns="50800" bIns="50800" rtlCol="0" anchor="ctr"/>
            <a:lstStyle/>
            <a:p>
              <a:pPr algn="ctr">
                <a:lnSpc>
                  <a:spcPts val="2660"/>
                </a:lnSpc>
              </a:pPr>
              <a:endParaRPr/>
            </a:p>
          </p:txBody>
        </p:sp>
      </p:grpSp>
      <p:sp>
        <p:nvSpPr>
          <p:cNvPr id="32" name="TextBox 32"/>
          <p:cNvSpPr txBox="1"/>
          <p:nvPr/>
        </p:nvSpPr>
        <p:spPr>
          <a:xfrm>
            <a:off x="775547" y="2288973"/>
            <a:ext cx="8009804" cy="3141886"/>
          </a:xfrm>
          <a:prstGeom prst="rect">
            <a:avLst/>
          </a:prstGeom>
        </p:spPr>
        <p:txBody>
          <a:bodyPr wrap="square" lIns="0" tIns="0" rIns="0" bIns="0" rtlCol="0" anchor="t">
            <a:spAutoFit/>
          </a:bodyPr>
          <a:lstStyle/>
          <a:p>
            <a:pPr marL="533400" lvl="1" indent="-266700" algn="just">
              <a:lnSpc>
                <a:spcPts val="3460"/>
              </a:lnSpc>
              <a:buFont typeface="Arial" panose="020B0604020202020204"/>
              <a:buChar char="•"/>
            </a:pPr>
            <a:r>
              <a:rPr lang="en-US" sz="2300" dirty="0">
                <a:solidFill>
                  <a:srgbClr val="222366"/>
                </a:solidFill>
                <a:latin typeface="Public Sans"/>
                <a:ea typeface="Public Sans"/>
                <a:cs typeface="Public Sans"/>
                <a:sym typeface="Public Sans"/>
              </a:rPr>
              <a:t>Seamlessly integrates public datasets from NCBI GEO, supporting RNA-</a:t>
            </a:r>
            <a:r>
              <a:rPr lang="en-US" sz="2300" dirty="0" err="1">
                <a:solidFill>
                  <a:srgbClr val="222366"/>
                </a:solidFill>
                <a:latin typeface="Public Sans"/>
                <a:ea typeface="Public Sans"/>
                <a:cs typeface="Public Sans"/>
                <a:sym typeface="Public Sans"/>
              </a:rPr>
              <a:t>seq</a:t>
            </a:r>
            <a:r>
              <a:rPr lang="en-US" sz="2300" dirty="0">
                <a:solidFill>
                  <a:srgbClr val="222366"/>
                </a:solidFill>
                <a:latin typeface="Public Sans"/>
                <a:ea typeface="Public Sans"/>
                <a:cs typeface="Public Sans"/>
                <a:sym typeface="Public Sans"/>
              </a:rPr>
              <a:t> and microarray formats</a:t>
            </a:r>
            <a:r>
              <a:rPr lang="en-US" sz="2300" dirty="0" smtClean="0">
                <a:solidFill>
                  <a:srgbClr val="222366"/>
                </a:solidFill>
                <a:latin typeface="Public Sans"/>
                <a:ea typeface="Public Sans"/>
                <a:cs typeface="Public Sans"/>
                <a:sym typeface="Public Sans"/>
              </a:rPr>
              <a:t>.</a:t>
            </a:r>
          </a:p>
          <a:p>
            <a:pPr marL="533400" lvl="1" indent="-266700" algn="just">
              <a:lnSpc>
                <a:spcPts val="3460"/>
              </a:lnSpc>
              <a:buFont typeface="Arial" panose="020B0604020202020204"/>
              <a:buChar char="•"/>
            </a:pPr>
            <a:r>
              <a:rPr lang="en-US" sz="2300" dirty="0" smtClean="0">
                <a:solidFill>
                  <a:srgbClr val="222366"/>
                </a:solidFill>
                <a:latin typeface="Public Sans"/>
                <a:ea typeface="Public Sans"/>
                <a:cs typeface="Public Sans"/>
                <a:sym typeface="Public Sans"/>
              </a:rPr>
              <a:t>Automated </a:t>
            </a:r>
            <a:r>
              <a:rPr lang="en-US" sz="2300" dirty="0">
                <a:solidFill>
                  <a:srgbClr val="222366"/>
                </a:solidFill>
                <a:latin typeface="Public Sans"/>
                <a:ea typeface="Public Sans"/>
                <a:cs typeface="Public Sans"/>
                <a:sym typeface="Public Sans"/>
              </a:rPr>
              <a:t>data preprocessing pipeline includes normalization (e.g., TPM/RPKM for RNA-</a:t>
            </a:r>
            <a:r>
              <a:rPr lang="en-US" sz="2300" dirty="0" err="1">
                <a:solidFill>
                  <a:srgbClr val="222366"/>
                </a:solidFill>
                <a:latin typeface="Public Sans"/>
                <a:ea typeface="Public Sans"/>
                <a:cs typeface="Public Sans"/>
                <a:sym typeface="Public Sans"/>
              </a:rPr>
              <a:t>seq</a:t>
            </a:r>
            <a:r>
              <a:rPr lang="en-US" sz="2300" dirty="0">
                <a:solidFill>
                  <a:srgbClr val="222366"/>
                </a:solidFill>
                <a:latin typeface="Public Sans"/>
                <a:ea typeface="Public Sans"/>
                <a:cs typeface="Public Sans"/>
                <a:sym typeface="Public Sans"/>
              </a:rPr>
              <a:t>), filtering low-expressed genes, and imputing missing values, ensuring clean and consistent input for downstream analysis.</a:t>
            </a:r>
          </a:p>
        </p:txBody>
      </p:sp>
      <p:sp>
        <p:nvSpPr>
          <p:cNvPr id="33" name="TextBox 33"/>
          <p:cNvSpPr txBox="1"/>
          <p:nvPr/>
        </p:nvSpPr>
        <p:spPr>
          <a:xfrm>
            <a:off x="9621827" y="2334895"/>
            <a:ext cx="8326060" cy="2769989"/>
          </a:xfrm>
          <a:prstGeom prst="rect">
            <a:avLst/>
          </a:prstGeom>
        </p:spPr>
        <p:txBody>
          <a:bodyPr wrap="square" lIns="0" tIns="0" rIns="0" bIns="0" rtlCol="0" anchor="t">
            <a:spAutoFit/>
          </a:bodyPr>
          <a:lstStyle/>
          <a:p>
            <a:pPr marL="561340" lvl="1" indent="-280670" algn="just">
              <a:lnSpc>
                <a:spcPts val="3640"/>
              </a:lnSpc>
              <a:buFont typeface="Arial" panose="020B0604020202020204"/>
              <a:buChar char="•"/>
            </a:pPr>
            <a:r>
              <a:rPr lang="en-US" sz="2400" dirty="0">
                <a:solidFill>
                  <a:srgbClr val="222366"/>
                </a:solidFill>
                <a:latin typeface="Public Sans"/>
                <a:ea typeface="Public Sans"/>
                <a:cs typeface="Public Sans"/>
                <a:sym typeface="Public Sans"/>
              </a:rPr>
              <a:t>Employs robust statistical tests (e.g., moderated t-tests, DESeq2 methods) to identify genes significantly differentially expressed between healthy and diseased samples</a:t>
            </a:r>
            <a:r>
              <a:rPr lang="en-US" sz="2400" dirty="0" smtClean="0">
                <a:solidFill>
                  <a:srgbClr val="222366"/>
                </a:solidFill>
                <a:latin typeface="Public Sans"/>
                <a:ea typeface="Public Sans"/>
                <a:cs typeface="Public Sans"/>
                <a:sym typeface="Public Sans"/>
              </a:rPr>
              <a:t>.</a:t>
            </a:r>
          </a:p>
          <a:p>
            <a:pPr marL="561340" lvl="1" indent="-280670" algn="just">
              <a:lnSpc>
                <a:spcPts val="3640"/>
              </a:lnSpc>
              <a:buFont typeface="Arial" panose="020B0604020202020204"/>
              <a:buChar char="•"/>
            </a:pPr>
            <a:r>
              <a:rPr lang="en-US" sz="2400" dirty="0" smtClean="0">
                <a:solidFill>
                  <a:srgbClr val="222366"/>
                </a:solidFill>
                <a:latin typeface="Public Sans"/>
                <a:ea typeface="Public Sans"/>
                <a:cs typeface="Public Sans"/>
                <a:sym typeface="Public Sans"/>
              </a:rPr>
              <a:t>Provides </a:t>
            </a:r>
            <a:r>
              <a:rPr lang="en-US" sz="2400" dirty="0">
                <a:solidFill>
                  <a:srgbClr val="222366"/>
                </a:solidFill>
                <a:latin typeface="Public Sans"/>
                <a:ea typeface="Public Sans"/>
                <a:cs typeface="Public Sans"/>
                <a:sym typeface="Public Sans"/>
              </a:rPr>
              <a:t>ranked gene lists with adjusted p-values and fold-change metrics.</a:t>
            </a:r>
          </a:p>
        </p:txBody>
      </p:sp>
      <p:sp>
        <p:nvSpPr>
          <p:cNvPr id="34" name="TextBox 34"/>
          <p:cNvSpPr txBox="1"/>
          <p:nvPr/>
        </p:nvSpPr>
        <p:spPr>
          <a:xfrm>
            <a:off x="418505" y="6493991"/>
            <a:ext cx="9027863" cy="3446906"/>
          </a:xfrm>
          <a:prstGeom prst="rect">
            <a:avLst/>
          </a:prstGeom>
        </p:spPr>
        <p:txBody>
          <a:bodyPr wrap="square" lIns="0" tIns="0" rIns="0" bIns="0" rtlCol="0" anchor="t">
            <a:spAutoFit/>
          </a:bodyPr>
          <a:lstStyle/>
          <a:p>
            <a:pPr marL="342900" indent="-342900" algn="just">
              <a:lnSpc>
                <a:spcPts val="3360"/>
              </a:lnSpc>
              <a:buFont typeface="Arial" panose="020B0604020202020204" pitchFamily="34" charset="0"/>
              <a:buChar char="•"/>
            </a:pPr>
            <a:r>
              <a:rPr lang="en-US" sz="2300" dirty="0">
                <a:solidFill>
                  <a:srgbClr val="222366"/>
                </a:solidFill>
                <a:latin typeface="Public Sans" panose="020B0604020202020204" charset="0"/>
                <a:ea typeface="Public Sans Bold"/>
                <a:cs typeface="Public Sans Bold"/>
                <a:sym typeface="Public Sans Bold"/>
              </a:rPr>
              <a:t>Implements Random Forest and Support Vector Machines (SVM) for classification of samples (healthy vs diseased) based on expression profiles</a:t>
            </a:r>
            <a:r>
              <a:rPr lang="en-US" sz="2300" dirty="0" smtClean="0">
                <a:solidFill>
                  <a:srgbClr val="222366"/>
                </a:solidFill>
                <a:latin typeface="Public Sans" panose="020B0604020202020204" charset="0"/>
                <a:ea typeface="Public Sans Bold"/>
                <a:cs typeface="Public Sans Bold"/>
                <a:sym typeface="Public Sans Bold"/>
              </a:rPr>
              <a:t>.</a:t>
            </a:r>
          </a:p>
          <a:p>
            <a:pPr marL="342900" indent="-342900" algn="just">
              <a:lnSpc>
                <a:spcPts val="3360"/>
              </a:lnSpc>
              <a:buFont typeface="Arial" panose="020B0604020202020204" pitchFamily="34" charset="0"/>
              <a:buChar char="•"/>
            </a:pPr>
            <a:r>
              <a:rPr lang="en-US" sz="2300" dirty="0" smtClean="0">
                <a:solidFill>
                  <a:srgbClr val="222366"/>
                </a:solidFill>
                <a:latin typeface="Public Sans" panose="020B0604020202020204" charset="0"/>
                <a:ea typeface="Public Sans Bold"/>
                <a:cs typeface="Public Sans Bold"/>
                <a:sym typeface="Public Sans Bold"/>
              </a:rPr>
              <a:t>Uses </a:t>
            </a:r>
            <a:r>
              <a:rPr lang="en-US" sz="2300" dirty="0">
                <a:solidFill>
                  <a:srgbClr val="222366"/>
                </a:solidFill>
                <a:latin typeface="Public Sans" panose="020B0604020202020204" charset="0"/>
                <a:ea typeface="Public Sans Bold"/>
                <a:cs typeface="Public Sans Bold"/>
                <a:sym typeface="Public Sans Bold"/>
              </a:rPr>
              <a:t>Recursive Feature Elimination (RFE) and Lasso regularization to select the most informative genes, reducing dimensionality and improving model interpretability</a:t>
            </a:r>
            <a:r>
              <a:rPr lang="en-US" sz="2300" dirty="0" smtClean="0">
                <a:solidFill>
                  <a:srgbClr val="222366"/>
                </a:solidFill>
                <a:latin typeface="Public Sans" panose="020B0604020202020204" charset="0"/>
                <a:ea typeface="Public Sans Bold"/>
                <a:cs typeface="Public Sans Bold"/>
                <a:sym typeface="Public Sans Bold"/>
              </a:rPr>
              <a:t>.</a:t>
            </a:r>
          </a:p>
          <a:p>
            <a:pPr marL="342900" indent="-342900" algn="just">
              <a:lnSpc>
                <a:spcPts val="3360"/>
              </a:lnSpc>
              <a:buFont typeface="Arial" panose="020B0604020202020204" pitchFamily="34" charset="0"/>
              <a:buChar char="•"/>
            </a:pPr>
            <a:r>
              <a:rPr lang="en-US" sz="2300" dirty="0" smtClean="0">
                <a:solidFill>
                  <a:srgbClr val="222366"/>
                </a:solidFill>
                <a:latin typeface="Public Sans" panose="020B0604020202020204" charset="0"/>
                <a:ea typeface="Public Sans Bold"/>
                <a:cs typeface="Public Sans Bold"/>
                <a:sym typeface="Public Sans Bold"/>
              </a:rPr>
              <a:t>Applies </a:t>
            </a:r>
            <a:r>
              <a:rPr lang="en-US" sz="2300" dirty="0">
                <a:solidFill>
                  <a:srgbClr val="222366"/>
                </a:solidFill>
                <a:latin typeface="Public Sans" panose="020B0604020202020204" charset="0"/>
                <a:ea typeface="Public Sans Bold"/>
                <a:cs typeface="Public Sans Bold"/>
                <a:sym typeface="Public Sans Bold"/>
              </a:rPr>
              <a:t>Principal Component Analysis (PCA) for dimensionality reduction and visualization of sample clusters.</a:t>
            </a:r>
            <a:endParaRPr lang="en-US" sz="2300" dirty="0">
              <a:solidFill>
                <a:srgbClr val="222366"/>
              </a:solidFill>
              <a:latin typeface="Public Sans" panose="020B0604020202020204" charset="0"/>
              <a:ea typeface="Public Sans"/>
              <a:cs typeface="Public Sans"/>
              <a:sym typeface="Public Sans"/>
            </a:endParaRPr>
          </a:p>
        </p:txBody>
      </p:sp>
      <p:sp>
        <p:nvSpPr>
          <p:cNvPr id="35" name="TextBox 35"/>
          <p:cNvSpPr txBox="1"/>
          <p:nvPr/>
        </p:nvSpPr>
        <p:spPr>
          <a:xfrm>
            <a:off x="10300446" y="7045516"/>
            <a:ext cx="6945049" cy="2693045"/>
          </a:xfrm>
          <a:prstGeom prst="rect">
            <a:avLst/>
          </a:prstGeom>
        </p:spPr>
        <p:txBody>
          <a:bodyPr wrap="square" lIns="0" tIns="0" rIns="0" bIns="0" rtlCol="0" anchor="t">
            <a:spAutoFit/>
          </a:bodyPr>
          <a:lstStyle/>
          <a:p>
            <a:pPr marL="539750" lvl="1" indent="-269875">
              <a:lnSpc>
                <a:spcPts val="3500"/>
              </a:lnSpc>
              <a:buFont typeface="Arial" panose="020B0604020202020204"/>
              <a:buChar char="•"/>
            </a:pPr>
            <a:r>
              <a:rPr lang="en-US" sz="2500" dirty="0">
                <a:solidFill>
                  <a:srgbClr val="222366"/>
                </a:solidFill>
                <a:latin typeface="Public Sans"/>
                <a:ea typeface="Public Sans"/>
                <a:cs typeface="Public Sans"/>
                <a:sym typeface="Public Sans"/>
              </a:rPr>
              <a:t>Dynamic volcano plots, </a:t>
            </a:r>
            <a:r>
              <a:rPr lang="en-US" sz="2500" dirty="0" err="1">
                <a:solidFill>
                  <a:srgbClr val="222366"/>
                </a:solidFill>
                <a:latin typeface="Public Sans"/>
                <a:ea typeface="Public Sans"/>
                <a:cs typeface="Public Sans"/>
                <a:sym typeface="Public Sans"/>
              </a:rPr>
              <a:t>heatmaps</a:t>
            </a:r>
            <a:r>
              <a:rPr lang="en-US" sz="2500" dirty="0">
                <a:solidFill>
                  <a:srgbClr val="222366"/>
                </a:solidFill>
                <a:latin typeface="Public Sans"/>
                <a:ea typeface="Public Sans"/>
                <a:cs typeface="Public Sans"/>
                <a:sym typeface="Public Sans"/>
              </a:rPr>
              <a:t>, and PCA scatter plots that allow users to explore gene expression trends interactively</a:t>
            </a:r>
            <a:r>
              <a:rPr lang="en-US" sz="2500" dirty="0" smtClean="0">
                <a:solidFill>
                  <a:srgbClr val="222366"/>
                </a:solidFill>
                <a:latin typeface="Public Sans"/>
                <a:ea typeface="Public Sans"/>
                <a:cs typeface="Public Sans"/>
                <a:sym typeface="Public Sans"/>
              </a:rPr>
              <a:t>.</a:t>
            </a:r>
          </a:p>
          <a:p>
            <a:pPr marL="539750" lvl="1" indent="-269875">
              <a:lnSpc>
                <a:spcPts val="3500"/>
              </a:lnSpc>
              <a:buFont typeface="Arial" panose="020B0604020202020204"/>
              <a:buChar char="•"/>
            </a:pPr>
            <a:r>
              <a:rPr lang="en-US" sz="2500" dirty="0" smtClean="0">
                <a:solidFill>
                  <a:srgbClr val="222366"/>
                </a:solidFill>
                <a:latin typeface="Public Sans"/>
                <a:ea typeface="Public Sans"/>
                <a:cs typeface="Public Sans"/>
                <a:sym typeface="Public Sans"/>
              </a:rPr>
              <a:t>Gene </a:t>
            </a:r>
            <a:r>
              <a:rPr lang="en-US" sz="2500" dirty="0">
                <a:solidFill>
                  <a:srgbClr val="222366"/>
                </a:solidFill>
                <a:latin typeface="Public Sans"/>
                <a:ea typeface="Public Sans"/>
                <a:cs typeface="Public Sans"/>
                <a:sym typeface="Public Sans"/>
              </a:rPr>
              <a:t>query interface enables users to track expression of specific genes across conditions without needing coding skills.</a:t>
            </a:r>
          </a:p>
        </p:txBody>
      </p:sp>
      <p:sp>
        <p:nvSpPr>
          <p:cNvPr id="36" name="TextBox 36"/>
          <p:cNvSpPr txBox="1"/>
          <p:nvPr/>
        </p:nvSpPr>
        <p:spPr>
          <a:xfrm>
            <a:off x="1983056" y="1387364"/>
            <a:ext cx="6034751" cy="474489"/>
          </a:xfrm>
          <a:prstGeom prst="rect">
            <a:avLst/>
          </a:prstGeom>
        </p:spPr>
        <p:txBody>
          <a:bodyPr wrap="square" lIns="0" tIns="0" rIns="0" bIns="0" rtlCol="0" anchor="t">
            <a:spAutoFit/>
          </a:bodyPr>
          <a:lstStyle/>
          <a:p>
            <a:pPr algn="ctr">
              <a:lnSpc>
                <a:spcPts val="3730"/>
              </a:lnSpc>
            </a:pPr>
            <a:r>
              <a:rPr lang="en-US" sz="2665" b="1" dirty="0">
                <a:solidFill>
                  <a:srgbClr val="222366"/>
                </a:solidFill>
                <a:latin typeface="Public Sans Bold"/>
                <a:ea typeface="Public Sans Bold"/>
                <a:cs typeface="Public Sans Bold"/>
                <a:sym typeface="Public Sans Bold"/>
              </a:rPr>
              <a:t>Data Integration and </a:t>
            </a:r>
            <a:r>
              <a:rPr lang="en-US" sz="2665" b="1" dirty="0" smtClean="0">
                <a:solidFill>
                  <a:srgbClr val="222366"/>
                </a:solidFill>
                <a:latin typeface="Public Sans Bold"/>
                <a:ea typeface="Public Sans Bold"/>
                <a:cs typeface="Public Sans Bold"/>
                <a:sym typeface="Public Sans Bold"/>
              </a:rPr>
              <a:t>Preprocessing</a:t>
            </a:r>
            <a:endParaRPr lang="en-US" sz="2665" b="1" dirty="0">
              <a:solidFill>
                <a:srgbClr val="222366"/>
              </a:solidFill>
              <a:latin typeface="Public Sans Bold"/>
              <a:ea typeface="Public Sans Bold"/>
              <a:cs typeface="Public Sans Bold"/>
              <a:sym typeface="Public Sans Bold"/>
            </a:endParaRPr>
          </a:p>
        </p:txBody>
      </p:sp>
      <p:sp>
        <p:nvSpPr>
          <p:cNvPr id="37" name="TextBox 37"/>
          <p:cNvSpPr txBox="1"/>
          <p:nvPr/>
        </p:nvSpPr>
        <p:spPr>
          <a:xfrm>
            <a:off x="10289249" y="1353471"/>
            <a:ext cx="7632760" cy="474489"/>
          </a:xfrm>
          <a:prstGeom prst="rect">
            <a:avLst/>
          </a:prstGeom>
        </p:spPr>
        <p:txBody>
          <a:bodyPr wrap="square" lIns="0" tIns="0" rIns="0" bIns="0" rtlCol="0" anchor="t">
            <a:spAutoFit/>
          </a:bodyPr>
          <a:lstStyle/>
          <a:p>
            <a:pPr algn="ctr">
              <a:lnSpc>
                <a:spcPts val="3730"/>
              </a:lnSpc>
            </a:pPr>
            <a:r>
              <a:rPr lang="en-US" sz="2665" b="1" dirty="0">
                <a:solidFill>
                  <a:srgbClr val="222366"/>
                </a:solidFill>
                <a:latin typeface="Public Sans Bold"/>
                <a:ea typeface="Public Sans Bold"/>
                <a:cs typeface="Public Sans Bold"/>
                <a:sym typeface="Public Sans Bold"/>
              </a:rPr>
              <a:t>Differential Gene Expression (DEG) </a:t>
            </a:r>
            <a:r>
              <a:rPr lang="en-US" sz="2665" b="1" dirty="0" smtClean="0">
                <a:solidFill>
                  <a:srgbClr val="222366"/>
                </a:solidFill>
                <a:latin typeface="Public Sans Bold"/>
                <a:ea typeface="Public Sans Bold"/>
                <a:cs typeface="Public Sans Bold"/>
                <a:sym typeface="Public Sans Bold"/>
              </a:rPr>
              <a:t>Analysis</a:t>
            </a:r>
            <a:endParaRPr lang="en-US" sz="2665" b="1" dirty="0">
              <a:solidFill>
                <a:srgbClr val="222366"/>
              </a:solidFill>
              <a:latin typeface="Public Sans Bold"/>
              <a:ea typeface="Public Sans Bold"/>
              <a:cs typeface="Public Sans Bold"/>
              <a:sym typeface="Public Sans Bold"/>
            </a:endParaRPr>
          </a:p>
        </p:txBody>
      </p:sp>
      <p:sp>
        <p:nvSpPr>
          <p:cNvPr id="38" name="TextBox 38"/>
          <p:cNvSpPr txBox="1"/>
          <p:nvPr/>
        </p:nvSpPr>
        <p:spPr>
          <a:xfrm>
            <a:off x="2136629" y="5736066"/>
            <a:ext cx="5478708" cy="456856"/>
          </a:xfrm>
          <a:prstGeom prst="rect">
            <a:avLst/>
          </a:prstGeom>
        </p:spPr>
        <p:txBody>
          <a:bodyPr lIns="0" tIns="0" rIns="0" bIns="0" rtlCol="0" anchor="t">
            <a:spAutoFit/>
          </a:bodyPr>
          <a:lstStyle/>
          <a:p>
            <a:pPr algn="ctr">
              <a:lnSpc>
                <a:spcPts val="3920"/>
              </a:lnSpc>
            </a:pPr>
            <a:r>
              <a:rPr lang="en-US" sz="2800" b="1" dirty="0">
                <a:solidFill>
                  <a:srgbClr val="222366"/>
                </a:solidFill>
                <a:latin typeface="Public Sans Bold"/>
                <a:ea typeface="Public Sans Bold"/>
                <a:cs typeface="Public Sans Bold"/>
                <a:sym typeface="Public Sans Bold"/>
              </a:rPr>
              <a:t>Machine Learning </a:t>
            </a:r>
            <a:r>
              <a:rPr lang="en-US" sz="2800" b="1" dirty="0" smtClean="0">
                <a:solidFill>
                  <a:srgbClr val="222366"/>
                </a:solidFill>
                <a:latin typeface="Public Sans Bold"/>
                <a:ea typeface="Public Sans Bold"/>
                <a:cs typeface="Public Sans Bold"/>
                <a:sym typeface="Public Sans Bold"/>
              </a:rPr>
              <a:t>Integration</a:t>
            </a:r>
            <a:endParaRPr lang="en-US" sz="2800" b="1" dirty="0">
              <a:solidFill>
                <a:srgbClr val="222366"/>
              </a:solidFill>
              <a:latin typeface="Public Sans Bold"/>
              <a:ea typeface="Public Sans Bold"/>
              <a:cs typeface="Public Sans Bold"/>
              <a:sym typeface="Public Sans Bold"/>
            </a:endParaRPr>
          </a:p>
        </p:txBody>
      </p:sp>
      <p:sp>
        <p:nvSpPr>
          <p:cNvPr id="39" name="TextBox 39"/>
          <p:cNvSpPr txBox="1"/>
          <p:nvPr/>
        </p:nvSpPr>
        <p:spPr>
          <a:xfrm>
            <a:off x="10741995" y="6200012"/>
            <a:ext cx="6468284" cy="500137"/>
          </a:xfrm>
          <a:prstGeom prst="rect">
            <a:avLst/>
          </a:prstGeom>
        </p:spPr>
        <p:txBody>
          <a:bodyPr wrap="square" lIns="0" tIns="0" rIns="0" bIns="0" rtlCol="0" anchor="t">
            <a:spAutoFit/>
          </a:bodyPr>
          <a:lstStyle/>
          <a:p>
            <a:pPr algn="ctr">
              <a:lnSpc>
                <a:spcPts val="3920"/>
              </a:lnSpc>
            </a:pPr>
            <a:r>
              <a:rPr lang="en-US" sz="2800" b="1" dirty="0">
                <a:solidFill>
                  <a:srgbClr val="222366"/>
                </a:solidFill>
                <a:latin typeface="Public Sans Bold"/>
                <a:ea typeface="Public Sans Bold"/>
                <a:cs typeface="Public Sans Bold"/>
                <a:sym typeface="Public Sans Bold"/>
              </a:rPr>
              <a:t>Interactive Visualization </a:t>
            </a:r>
            <a:r>
              <a:rPr lang="en-US" sz="2800" b="1" dirty="0" smtClean="0">
                <a:solidFill>
                  <a:srgbClr val="222366"/>
                </a:solidFill>
                <a:latin typeface="Public Sans Bold"/>
                <a:ea typeface="Public Sans Bold"/>
                <a:cs typeface="Public Sans Bold"/>
                <a:sym typeface="Public Sans Bold"/>
              </a:rPr>
              <a:t>Module</a:t>
            </a:r>
            <a:endParaRPr lang="en-US" sz="2800" b="1" dirty="0">
              <a:solidFill>
                <a:srgbClr val="222366"/>
              </a:solidFill>
              <a:latin typeface="Public Sans Bold"/>
              <a:ea typeface="Public Sans Bold"/>
              <a:cs typeface="Public Sans Bold"/>
              <a:sym typeface="Public Sans Bold"/>
            </a:endParaRPr>
          </a:p>
        </p:txBody>
      </p:sp>
      <p:sp>
        <p:nvSpPr>
          <p:cNvPr id="40" name="TextBox 40"/>
          <p:cNvSpPr txBox="1"/>
          <p:nvPr/>
        </p:nvSpPr>
        <p:spPr>
          <a:xfrm>
            <a:off x="1858673" y="161517"/>
            <a:ext cx="14763189" cy="1030282"/>
          </a:xfrm>
          <a:prstGeom prst="rect">
            <a:avLst/>
          </a:prstGeom>
        </p:spPr>
        <p:txBody>
          <a:bodyPr lIns="0" tIns="0" rIns="0" bIns="0" rtlCol="0" anchor="t">
            <a:spAutoFit/>
          </a:bodyPr>
          <a:lstStyle/>
          <a:p>
            <a:pPr algn="ctr">
              <a:lnSpc>
                <a:spcPts val="8820"/>
              </a:lnSpc>
            </a:pPr>
            <a:r>
              <a:rPr lang="en-US" sz="6300" dirty="0" smtClean="0">
                <a:solidFill>
                  <a:srgbClr val="222366"/>
                </a:solidFill>
                <a:latin typeface="Public Sans Heavy" panose="020B0604020202020204" charset="0"/>
                <a:ea typeface="Brick Sans"/>
                <a:cs typeface="Brick Sans"/>
                <a:sym typeface="Brick Sans"/>
              </a:rPr>
              <a:t>Technical Approach</a:t>
            </a:r>
            <a:endParaRPr lang="en-US" sz="6300" dirty="0">
              <a:solidFill>
                <a:srgbClr val="222366"/>
              </a:solidFill>
              <a:latin typeface="Public Sans Heavy" panose="020B0604020202020204" charset="0"/>
              <a:ea typeface="Brick Sans"/>
              <a:cs typeface="Brick Sans"/>
              <a:sym typeface="Brick Sans"/>
            </a:endParaRPr>
          </a:p>
        </p:txBody>
      </p:sp>
    </p:spTree>
    <p:extLst>
      <p:ext uri="{BB962C8B-B14F-4D97-AF65-F5344CB8AC3E}">
        <p14:creationId xmlns:p14="http://schemas.microsoft.com/office/powerpoint/2010/main" val="3705803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3721612" y="3447873"/>
            <a:ext cx="5923581" cy="5810427"/>
          </a:xfrm>
          <a:custGeom>
            <a:avLst/>
            <a:gdLst/>
            <a:ahLst/>
            <a:cxnLst/>
            <a:rect l="l" t="t" r="r" b="b"/>
            <a:pathLst>
              <a:path w="5923581" h="5810427">
                <a:moveTo>
                  <a:pt x="0" y="0"/>
                </a:moveTo>
                <a:lnTo>
                  <a:pt x="5923581" y="0"/>
                </a:lnTo>
                <a:lnTo>
                  <a:pt x="5923581" y="5810427"/>
                </a:lnTo>
                <a:lnTo>
                  <a:pt x="0" y="581042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0020935" y="-266700"/>
            <a:ext cx="7238365" cy="10539730"/>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txBody>
          <a:bodyPr/>
          <a:lstStyle/>
          <a:p>
            <a:endParaRPr lang="en-US"/>
          </a:p>
        </p:txBody>
      </p:sp>
      <p:grpSp>
        <p:nvGrpSpPr>
          <p:cNvPr id="4" name="Group 4"/>
          <p:cNvGrpSpPr/>
          <p:nvPr/>
        </p:nvGrpSpPr>
        <p:grpSpPr>
          <a:xfrm>
            <a:off x="10733870" y="1057484"/>
            <a:ext cx="5877727" cy="8056565"/>
            <a:chOff x="35004" y="43546"/>
            <a:chExt cx="837163" cy="1143385"/>
          </a:xfrm>
        </p:grpSpPr>
        <p:sp>
          <p:nvSpPr>
            <p:cNvPr id="5" name="Freeform 5"/>
            <p:cNvSpPr/>
            <p:nvPr/>
          </p:nvSpPr>
          <p:spPr>
            <a:xfrm>
              <a:off x="36327" y="43546"/>
              <a:ext cx="835840" cy="1143385"/>
            </a:xfrm>
            <a:custGeom>
              <a:avLst/>
              <a:gdLst/>
              <a:ahLst/>
              <a:cxnLst/>
              <a:rect l="l" t="t" r="r" b="b"/>
              <a:pathLst>
                <a:path w="880840" h="1335684">
                  <a:moveTo>
                    <a:pt x="0" y="0"/>
                  </a:moveTo>
                  <a:lnTo>
                    <a:pt x="880840" y="0"/>
                  </a:lnTo>
                  <a:lnTo>
                    <a:pt x="880840" y="1335684"/>
                  </a:lnTo>
                  <a:lnTo>
                    <a:pt x="0" y="1335684"/>
                  </a:lnTo>
                  <a:close/>
                </a:path>
              </a:pathLst>
            </a:custGeom>
            <a:solidFill>
              <a:srgbClr val="E9EAF6"/>
            </a:solidFill>
          </p:spPr>
        </p:sp>
        <p:sp>
          <p:nvSpPr>
            <p:cNvPr id="6" name="TextBox 6"/>
            <p:cNvSpPr txBox="1"/>
            <p:nvPr/>
          </p:nvSpPr>
          <p:spPr>
            <a:xfrm>
              <a:off x="35004" y="223304"/>
              <a:ext cx="837163" cy="843513"/>
            </a:xfrm>
            <a:prstGeom prst="rect">
              <a:avLst/>
            </a:prstGeom>
          </p:spPr>
          <p:txBody>
            <a:bodyPr lIns="50800" tIns="50800" rIns="50800" bIns="50800" rtlCol="0" anchor="ctr"/>
            <a:lstStyle/>
            <a:p>
              <a:pPr marL="342900" indent="-342900" algn="just">
                <a:lnSpc>
                  <a:spcPts val="3360"/>
                </a:lnSpc>
                <a:buFont typeface="Arial" panose="020B0604020202020204" pitchFamily="34" charset="0"/>
                <a:buChar char="•"/>
              </a:pPr>
              <a:r>
                <a:rPr lang="en-US" altLang="en-US" sz="2700" dirty="0">
                  <a:solidFill>
                    <a:srgbClr val="222366"/>
                  </a:solidFill>
                  <a:latin typeface="Solway" panose="00000500000000000000"/>
                  <a:ea typeface="Solway" panose="00000500000000000000"/>
                  <a:cs typeface="Solway" panose="00000500000000000000"/>
                  <a:sym typeface="Solway" panose="00000500000000000000"/>
                </a:rPr>
                <a:t>Built with a responsive frontend framework (React.js) providing an intuitive UI for uploading datasets, running analyses, and visualizing results</a:t>
              </a: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a:t>
              </a:r>
            </a:p>
            <a:p>
              <a:pPr marL="342900" indent="-342900" algn="just">
                <a:lnSpc>
                  <a:spcPts val="3360"/>
                </a:lnSpc>
                <a:buFont typeface="Arial" panose="020B0604020202020204" pitchFamily="34" charset="0"/>
                <a:buChar char="•"/>
              </a:pP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Backend </a:t>
              </a:r>
              <a:r>
                <a:rPr lang="en-US" altLang="en-US" sz="2700" dirty="0">
                  <a:solidFill>
                    <a:srgbClr val="222366"/>
                  </a:solidFill>
                  <a:latin typeface="Solway" panose="00000500000000000000"/>
                  <a:ea typeface="Solway" panose="00000500000000000000"/>
                  <a:cs typeface="Solway" panose="00000500000000000000"/>
                  <a:sym typeface="Solway" panose="00000500000000000000"/>
                </a:rPr>
                <a:t>powered by Python (Flask/Django) managing data processing, statistical analysis, and machine learning model serving</a:t>
              </a: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a:t>
              </a:r>
            </a:p>
            <a:p>
              <a:pPr marL="342900" indent="-342900" algn="just">
                <a:lnSpc>
                  <a:spcPts val="3360"/>
                </a:lnSpc>
                <a:buFont typeface="Arial" panose="020B0604020202020204" pitchFamily="34" charset="0"/>
                <a:buChar char="•"/>
              </a:pP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Database </a:t>
              </a:r>
              <a:r>
                <a:rPr lang="en-US" altLang="en-US" sz="2700" dirty="0">
                  <a:solidFill>
                    <a:srgbClr val="222366"/>
                  </a:solidFill>
                  <a:latin typeface="Solway" panose="00000500000000000000"/>
                  <a:ea typeface="Solway" panose="00000500000000000000"/>
                  <a:cs typeface="Solway" panose="00000500000000000000"/>
                  <a:sym typeface="Solway" panose="00000500000000000000"/>
                </a:rPr>
                <a:t>support </a:t>
              </a: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(MongoDB</a:t>
              </a:r>
              <a:r>
                <a:rPr lang="en-US" altLang="en-US" sz="2700" dirty="0">
                  <a:solidFill>
                    <a:srgbClr val="222366"/>
                  </a:solidFill>
                  <a:latin typeface="Solway" panose="00000500000000000000"/>
                  <a:ea typeface="Solway" panose="00000500000000000000"/>
                  <a:cs typeface="Solway" panose="00000500000000000000"/>
                  <a:sym typeface="Solway" panose="00000500000000000000"/>
                </a:rPr>
                <a:t>) for storing user queries and processed results</a:t>
              </a: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a:t>
              </a:r>
            </a:p>
            <a:p>
              <a:pPr marL="342900" indent="-342900" algn="just">
                <a:lnSpc>
                  <a:spcPts val="3360"/>
                </a:lnSpc>
                <a:buFont typeface="Arial" panose="020B0604020202020204" pitchFamily="34" charset="0"/>
                <a:buChar char="•"/>
              </a:pPr>
              <a:r>
                <a:rPr lang="en-US" altLang="en-US" sz="2700" dirty="0" smtClean="0">
                  <a:solidFill>
                    <a:srgbClr val="222366"/>
                  </a:solidFill>
                  <a:latin typeface="Solway" panose="00000500000000000000"/>
                  <a:ea typeface="Solway" panose="00000500000000000000"/>
                  <a:cs typeface="Solway" panose="00000500000000000000"/>
                  <a:sym typeface="Solway" panose="00000500000000000000"/>
                </a:rPr>
                <a:t>RESTful </a:t>
              </a:r>
              <a:r>
                <a:rPr lang="en-US" altLang="en-US" sz="2700" dirty="0">
                  <a:solidFill>
                    <a:srgbClr val="222366"/>
                  </a:solidFill>
                  <a:latin typeface="Solway" panose="00000500000000000000"/>
                  <a:ea typeface="Solway" panose="00000500000000000000"/>
                  <a:cs typeface="Solway" panose="00000500000000000000"/>
                  <a:sym typeface="Solway" panose="00000500000000000000"/>
                </a:rPr>
                <a:t>APIs enable modularity and potential integration with other bioinformatics tools</a:t>
              </a:r>
              <a:r>
                <a:rPr lang="en-US" altLang="en-US" sz="2500" dirty="0">
                  <a:solidFill>
                    <a:srgbClr val="222366"/>
                  </a:solidFill>
                  <a:latin typeface="Solway" panose="00000500000000000000"/>
                  <a:ea typeface="Solway" panose="00000500000000000000"/>
                  <a:cs typeface="Solway" panose="00000500000000000000"/>
                  <a:sym typeface="Solway" panose="00000500000000000000"/>
                </a:rPr>
                <a:t>.</a:t>
              </a:r>
            </a:p>
          </p:txBody>
        </p:sp>
      </p:grpSp>
      <p:sp>
        <p:nvSpPr>
          <p:cNvPr id="8" name="Freeform 8"/>
          <p:cNvSpPr/>
          <p:nvPr/>
        </p:nvSpPr>
        <p:spPr>
          <a:xfrm rot="-1248570">
            <a:off x="7365035" y="247351"/>
            <a:ext cx="1885910" cy="2687178"/>
          </a:xfrm>
          <a:custGeom>
            <a:avLst/>
            <a:gdLst/>
            <a:ahLst/>
            <a:cxnLst/>
            <a:rect l="l" t="t" r="r" b="b"/>
            <a:pathLst>
              <a:path w="1885910" h="2687178">
                <a:moveTo>
                  <a:pt x="0" y="0"/>
                </a:moveTo>
                <a:lnTo>
                  <a:pt x="1885910" y="0"/>
                </a:lnTo>
                <a:lnTo>
                  <a:pt x="1885910" y="2687178"/>
                </a:lnTo>
                <a:lnTo>
                  <a:pt x="0" y="2687178"/>
                </a:lnTo>
                <a:lnTo>
                  <a:pt x="0" y="0"/>
                </a:lnTo>
                <a:close/>
              </a:path>
            </a:pathLst>
          </a:custGeom>
          <a:blipFill>
            <a:blip r:embed="rId6">
              <a:extLst>
                <a:ext uri="{96DAC541-7B7A-43D3-8B79-37D633B846F1}">
                  <asvg:svgBlip xmlns="" xmlns:asvg="http://schemas.microsoft.com/office/drawing/2016/SVG/main" r:embed="rId8"/>
                </a:ext>
              </a:extLst>
            </a:blip>
            <a:stretch>
              <a:fillRect/>
            </a:stretch>
          </a:blipFill>
        </p:spPr>
      </p:sp>
      <p:sp>
        <p:nvSpPr>
          <p:cNvPr id="10" name="TextBox 10"/>
          <p:cNvSpPr txBox="1"/>
          <p:nvPr/>
        </p:nvSpPr>
        <p:spPr>
          <a:xfrm>
            <a:off x="321468" y="532582"/>
            <a:ext cx="5661508" cy="4039567"/>
          </a:xfrm>
          <a:prstGeom prst="rect">
            <a:avLst/>
          </a:prstGeom>
        </p:spPr>
        <p:txBody>
          <a:bodyPr wrap="square" lIns="0" tIns="0" rIns="0" bIns="0" rtlCol="0" anchor="t">
            <a:spAutoFit/>
          </a:bodyPr>
          <a:lstStyle/>
          <a:p>
            <a:pPr>
              <a:lnSpc>
                <a:spcPts val="10500"/>
              </a:lnSpc>
            </a:pPr>
            <a:r>
              <a:rPr lang="en-US" sz="6000" dirty="0">
                <a:solidFill>
                  <a:srgbClr val="222366"/>
                </a:solidFill>
                <a:latin typeface="Gill Sans Ultra Bold" panose="020B0A02020104020203" pitchFamily="34" charset="0"/>
                <a:ea typeface="Brick Sans"/>
                <a:cs typeface="Brick Sans"/>
                <a:sym typeface="Brick Sans"/>
              </a:rPr>
              <a:t>W</a:t>
            </a:r>
            <a:r>
              <a:rPr lang="en-US" sz="6000" dirty="0" smtClean="0">
                <a:solidFill>
                  <a:srgbClr val="222366"/>
                </a:solidFill>
                <a:latin typeface="Gill Sans Ultra Bold" panose="020B0A02020104020203" pitchFamily="34" charset="0"/>
                <a:ea typeface="Brick Sans"/>
                <a:cs typeface="Brick Sans"/>
                <a:sym typeface="Brick Sans"/>
              </a:rPr>
              <a:t>eb </a:t>
            </a:r>
            <a:r>
              <a:rPr lang="en-US" sz="6000" dirty="0">
                <a:solidFill>
                  <a:srgbClr val="222366"/>
                </a:solidFill>
                <a:latin typeface="Gill Sans Ultra Bold" panose="020B0A02020104020203" pitchFamily="34" charset="0"/>
                <a:ea typeface="Brick Sans"/>
                <a:cs typeface="Brick Sans"/>
                <a:sym typeface="Brick Sans"/>
              </a:rPr>
              <a:t>Application </a:t>
            </a:r>
            <a:r>
              <a:rPr lang="en-US" sz="6000" dirty="0" smtClean="0">
                <a:solidFill>
                  <a:srgbClr val="222366"/>
                </a:solidFill>
                <a:latin typeface="Gill Sans Ultra Bold" panose="020B0A02020104020203" pitchFamily="34" charset="0"/>
                <a:ea typeface="Brick Sans"/>
                <a:cs typeface="Brick Sans"/>
                <a:sym typeface="Brick Sans"/>
              </a:rPr>
              <a:t>Layer</a:t>
            </a:r>
            <a:endParaRPr lang="en-US" sz="6000" dirty="0">
              <a:solidFill>
                <a:srgbClr val="222366"/>
              </a:solidFill>
              <a:latin typeface="Gill Sans Ultra Bold" panose="020B0A02020104020203" pitchFamily="34" charset="0"/>
              <a:ea typeface="Brick Sans"/>
              <a:cs typeface="Brick Sans"/>
              <a:sym typeface="Brick Sans"/>
            </a:endParaRPr>
          </a:p>
        </p:txBody>
      </p:sp>
      <p:sp>
        <p:nvSpPr>
          <p:cNvPr id="11" name="Freeform 10"/>
          <p:cNvSpPr/>
          <p:nvPr/>
        </p:nvSpPr>
        <p:spPr>
          <a:xfrm flipH="1">
            <a:off x="2230080" y="3702245"/>
            <a:ext cx="5752187" cy="6451562"/>
          </a:xfrm>
          <a:custGeom>
            <a:avLst/>
            <a:gdLst/>
            <a:ahLst/>
            <a:cxnLst/>
            <a:rect l="l" t="t" r="r" b="b"/>
            <a:pathLst>
              <a:path w="5689285" h="7379969">
                <a:moveTo>
                  <a:pt x="0" y="0"/>
                </a:moveTo>
                <a:lnTo>
                  <a:pt x="5689285" y="0"/>
                </a:lnTo>
                <a:lnTo>
                  <a:pt x="5689285" y="7379968"/>
                </a:lnTo>
                <a:lnTo>
                  <a:pt x="0" y="7379968"/>
                </a:lnTo>
                <a:lnTo>
                  <a:pt x="0" y="0"/>
                </a:lnTo>
                <a:close/>
              </a:path>
            </a:pathLst>
          </a:custGeom>
          <a:blipFill>
            <a:blip r:embed="rId9">
              <a:extLst>
                <a:ext uri="{96DAC541-7B7A-43D3-8B79-37D633B846F1}">
                  <asvg:svgBlip xmlns="" xmlns:lc="http://schemas.openxmlformats.org/drawingml/2006/lockedCanvas" xmlns:asvg="http://schemas.microsoft.com/office/drawing/2016/SVG/main" r:embed="rId10"/>
                </a:ext>
              </a:extLst>
            </a:blip>
            <a:stretch>
              <a:fillRect/>
            </a:stretch>
          </a:blipFill>
        </p:spPr>
      </p:sp>
    </p:spTree>
    <p:extLst>
      <p:ext uri="{BB962C8B-B14F-4D97-AF65-F5344CB8AC3E}">
        <p14:creationId xmlns:p14="http://schemas.microsoft.com/office/powerpoint/2010/main" val="220528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3721612" y="3447873"/>
            <a:ext cx="5923581" cy="5810427"/>
          </a:xfrm>
          <a:custGeom>
            <a:avLst/>
            <a:gdLst/>
            <a:ahLst/>
            <a:cxnLst/>
            <a:rect l="l" t="t" r="r" b="b"/>
            <a:pathLst>
              <a:path w="5923581" h="5810427">
                <a:moveTo>
                  <a:pt x="0" y="0"/>
                </a:moveTo>
                <a:lnTo>
                  <a:pt x="5923581" y="0"/>
                </a:lnTo>
                <a:lnTo>
                  <a:pt x="5923581" y="5810427"/>
                </a:lnTo>
                <a:lnTo>
                  <a:pt x="0" y="581042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0549698" y="301936"/>
            <a:ext cx="7399403" cy="10175564"/>
          </a:xfrm>
          <a:custGeom>
            <a:avLst/>
            <a:gdLst/>
            <a:ahLst/>
            <a:cxnLst/>
            <a:rect l="l" t="t" r="r" b="b"/>
            <a:pathLst>
              <a:path w="7399403" h="11629710">
                <a:moveTo>
                  <a:pt x="0" y="0"/>
                </a:moveTo>
                <a:lnTo>
                  <a:pt x="7399403" y="0"/>
                </a:lnTo>
                <a:lnTo>
                  <a:pt x="7399403" y="11629710"/>
                </a:lnTo>
                <a:lnTo>
                  <a:pt x="0" y="11629710"/>
                </a:lnTo>
                <a:lnTo>
                  <a:pt x="0" y="0"/>
                </a:lnTo>
                <a:close/>
              </a:path>
            </a:pathLst>
          </a:custGeom>
          <a:blipFill>
            <a:blip r:embed="rId4">
              <a:extLst>
                <a:ext uri="{96DAC541-7B7A-43D3-8B79-37D633B846F1}">
                  <asvg:svgBlip xmlns="" xmlns:asvg="http://schemas.microsoft.com/office/drawing/2016/SVG/main" r:embed="rId5"/>
                </a:ext>
              </a:extLst>
            </a:blip>
            <a:srcRect/>
            <a:stretch>
              <a:fillRect t="-1" b="-14291"/>
            </a:stretch>
          </a:blipFill>
        </p:spPr>
      </p:sp>
      <p:grpSp>
        <p:nvGrpSpPr>
          <p:cNvPr id="4" name="Group 4"/>
          <p:cNvGrpSpPr/>
          <p:nvPr/>
        </p:nvGrpSpPr>
        <p:grpSpPr>
          <a:xfrm>
            <a:off x="10820398" y="1237924"/>
            <a:ext cx="7019027" cy="9239576"/>
            <a:chOff x="0" y="-57150"/>
            <a:chExt cx="919689" cy="1392834"/>
          </a:xfrm>
        </p:grpSpPr>
        <p:sp>
          <p:nvSpPr>
            <p:cNvPr id="5" name="Freeform 5"/>
            <p:cNvSpPr/>
            <p:nvPr/>
          </p:nvSpPr>
          <p:spPr>
            <a:xfrm>
              <a:off x="19424" y="0"/>
              <a:ext cx="880840" cy="1335684"/>
            </a:xfrm>
            <a:custGeom>
              <a:avLst/>
              <a:gdLst/>
              <a:ahLst/>
              <a:cxnLst/>
              <a:rect l="l" t="t" r="r" b="b"/>
              <a:pathLst>
                <a:path w="880840" h="1335684">
                  <a:moveTo>
                    <a:pt x="0" y="0"/>
                  </a:moveTo>
                  <a:lnTo>
                    <a:pt x="880840" y="0"/>
                  </a:lnTo>
                  <a:lnTo>
                    <a:pt x="880840" y="1335684"/>
                  </a:lnTo>
                  <a:lnTo>
                    <a:pt x="0" y="1335684"/>
                  </a:lnTo>
                  <a:close/>
                </a:path>
              </a:pathLst>
            </a:custGeom>
            <a:solidFill>
              <a:srgbClr val="E9EAF6"/>
            </a:solidFill>
          </p:spPr>
        </p:sp>
        <p:sp>
          <p:nvSpPr>
            <p:cNvPr id="6" name="TextBox 6"/>
            <p:cNvSpPr txBox="1"/>
            <p:nvPr/>
          </p:nvSpPr>
          <p:spPr>
            <a:xfrm>
              <a:off x="0" y="-57150"/>
              <a:ext cx="919689" cy="1392834"/>
            </a:xfrm>
            <a:prstGeom prst="rect">
              <a:avLst/>
            </a:prstGeom>
          </p:spPr>
          <p:txBody>
            <a:bodyPr lIns="50800" tIns="50800" rIns="50800" bIns="50800" rtlCol="0" anchor="ctr"/>
            <a:lstStyle/>
            <a:p>
              <a:pPr algn="l">
                <a:lnSpc>
                  <a:spcPts val="3360"/>
                </a:lnSpc>
              </a:pPr>
              <a:endParaRPr sz="2300" dirty="0">
                <a:latin typeface="Public Sans" panose="020B0604020202020204" charset="0"/>
              </a:endParaRPr>
            </a:p>
            <a:p>
              <a:pPr marL="259080" lvl="1">
                <a:lnSpc>
                  <a:spcPts val="3360"/>
                </a:lnSpc>
              </a:pPr>
              <a:r>
                <a:rPr lang="en-US" sz="2400" b="1" dirty="0">
                  <a:solidFill>
                    <a:srgbClr val="222366"/>
                  </a:solidFill>
                  <a:latin typeface="Public Sans" panose="020B0604020202020204" charset="0"/>
                  <a:ea typeface="Solway Bold" panose="00000900000000000000"/>
                  <a:cs typeface="Solway Bold" panose="00000900000000000000"/>
                  <a:sym typeface="Solway Bold" panose="00000900000000000000"/>
                </a:rPr>
                <a:t>Data </a:t>
              </a: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Flow:</a:t>
              </a:r>
            </a:p>
            <a:p>
              <a:pPr marL="259080" lvl="1">
                <a:lnSpc>
                  <a:spcPts val="3360"/>
                </a:lnSpc>
              </a:pP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1</a:t>
              </a:r>
              <a:r>
                <a:rPr lang="en-US" sz="2400" b="1" dirty="0">
                  <a:solidFill>
                    <a:srgbClr val="222366"/>
                  </a:solidFill>
                  <a:latin typeface="Public Sans" panose="020B0604020202020204" charset="0"/>
                  <a:ea typeface="Solway Bold" panose="00000900000000000000"/>
                  <a:cs typeface="Solway Bold" panose="00000900000000000000"/>
                  <a:sym typeface="Solway Bold" panose="00000900000000000000"/>
                </a:rPr>
                <a:t>. User Interface   - Users interact with the web interface   - Submit gene queries and analysis requests   - View results and </a:t>
              </a: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visualizations.</a:t>
              </a:r>
            </a:p>
            <a:p>
              <a:pPr marL="259080" lvl="1">
                <a:lnSpc>
                  <a:spcPts val="3360"/>
                </a:lnSpc>
              </a:pPr>
              <a:endPar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endParaRPr>
            </a:p>
            <a:p>
              <a:pPr marL="259080" lvl="1">
                <a:lnSpc>
                  <a:spcPts val="3360"/>
                </a:lnSpc>
              </a:pP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2</a:t>
              </a:r>
              <a:r>
                <a:rPr lang="en-US" sz="2400" b="1" dirty="0">
                  <a:solidFill>
                    <a:srgbClr val="222366"/>
                  </a:solidFill>
                  <a:latin typeface="Public Sans" panose="020B0604020202020204" charset="0"/>
                  <a:ea typeface="Solway Bold" panose="00000900000000000000"/>
                  <a:cs typeface="Solway Bold" panose="00000900000000000000"/>
                  <a:sym typeface="Solway Bold" panose="00000900000000000000"/>
                </a:rPr>
                <a:t>. Backend Processing   - Handles API requests   - Manages data processing pipeline   - Coordinates with external </a:t>
              </a: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services.</a:t>
              </a:r>
            </a:p>
            <a:p>
              <a:pPr marL="259080" lvl="1">
                <a:lnSpc>
                  <a:spcPts val="3360"/>
                </a:lnSpc>
              </a:pPr>
              <a:endPar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endParaRPr>
            </a:p>
            <a:p>
              <a:pPr marL="259080" lvl="1">
                <a:lnSpc>
                  <a:spcPts val="3360"/>
                </a:lnSpc>
              </a:pP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3</a:t>
              </a:r>
              <a:r>
                <a:rPr lang="en-US" sz="2400" b="1" dirty="0">
                  <a:solidFill>
                    <a:srgbClr val="222366"/>
                  </a:solidFill>
                  <a:latin typeface="Public Sans" panose="020B0604020202020204" charset="0"/>
                  <a:ea typeface="Solway Bold" panose="00000900000000000000"/>
                  <a:cs typeface="Solway Bold" panose="00000900000000000000"/>
                  <a:sym typeface="Solway Bold" panose="00000900000000000000"/>
                </a:rPr>
                <a:t>. Data Management   - Fetches data from NCBI GEO   - Processes and stores gene expression data   - Manages analysis </a:t>
              </a: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results.</a:t>
              </a:r>
            </a:p>
            <a:p>
              <a:pPr marL="259080" lvl="1">
                <a:lnSpc>
                  <a:spcPts val="3360"/>
                </a:lnSpc>
              </a:pPr>
              <a:endPar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endParaRPr>
            </a:p>
            <a:p>
              <a:pPr marL="259080" lvl="1">
                <a:lnSpc>
                  <a:spcPts val="3360"/>
                </a:lnSpc>
              </a:pP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4</a:t>
              </a:r>
              <a:r>
                <a:rPr lang="en-US" sz="2400" b="1" dirty="0">
                  <a:solidFill>
                    <a:srgbClr val="222366"/>
                  </a:solidFill>
                  <a:latin typeface="Public Sans" panose="020B0604020202020204" charset="0"/>
                  <a:ea typeface="Solway Bold" panose="00000900000000000000"/>
                  <a:cs typeface="Solway Bold" panose="00000900000000000000"/>
                  <a:sym typeface="Solway Bold" panose="00000900000000000000"/>
                </a:rPr>
                <a:t>. Analysis Pipeline   - Differential expression analysis   - Statistical processing   - Machine learning </a:t>
              </a:r>
              <a:r>
                <a:rPr lang="en-US" sz="2400" b="1" dirty="0" smtClean="0">
                  <a:solidFill>
                    <a:srgbClr val="222366"/>
                  </a:solidFill>
                  <a:latin typeface="Public Sans" panose="020B0604020202020204" charset="0"/>
                  <a:ea typeface="Solway Bold" panose="00000900000000000000"/>
                  <a:cs typeface="Solway Bold" panose="00000900000000000000"/>
                  <a:sym typeface="Solway Bold" panose="00000900000000000000"/>
                </a:rPr>
                <a:t>classification.</a:t>
              </a:r>
              <a:endParaRPr lang="en-US" sz="2400" dirty="0">
                <a:solidFill>
                  <a:srgbClr val="222366"/>
                </a:solidFill>
                <a:latin typeface="Public Sans" panose="020B0604020202020204" charset="0"/>
                <a:ea typeface="Solway" panose="00000500000000000000"/>
                <a:cs typeface="Solway" panose="00000500000000000000"/>
                <a:sym typeface="Solway" panose="00000500000000000000"/>
              </a:endParaRPr>
            </a:p>
          </p:txBody>
        </p:sp>
      </p:grpSp>
      <p:sp>
        <p:nvSpPr>
          <p:cNvPr id="9" name="TextBox 9"/>
          <p:cNvSpPr txBox="1"/>
          <p:nvPr/>
        </p:nvSpPr>
        <p:spPr>
          <a:xfrm>
            <a:off x="635137" y="6116791"/>
            <a:ext cx="4537471" cy="1154162"/>
          </a:xfrm>
          <a:prstGeom prst="rect">
            <a:avLst/>
          </a:prstGeom>
        </p:spPr>
        <p:txBody>
          <a:bodyPr lIns="0" tIns="0" rIns="0" bIns="0" rtlCol="0" anchor="t">
            <a:spAutoFit/>
          </a:bodyPr>
          <a:lstStyle/>
          <a:p>
            <a:pPr algn="l">
              <a:lnSpc>
                <a:spcPts val="4480"/>
              </a:lnSpc>
            </a:pPr>
            <a:r>
              <a:rPr lang="en-US" sz="3200" b="1" dirty="0">
                <a:solidFill>
                  <a:srgbClr val="222366"/>
                </a:solidFill>
                <a:latin typeface="Public Sans Heavy"/>
                <a:ea typeface="Public Sans Heavy"/>
                <a:cs typeface="Public Sans Heavy"/>
                <a:sym typeface="Public Sans Heavy"/>
              </a:rPr>
              <a:t>An </a:t>
            </a:r>
            <a:r>
              <a:rPr lang="en-US" sz="3200" b="1" dirty="0" err="1" smtClean="0">
                <a:solidFill>
                  <a:srgbClr val="222366"/>
                </a:solidFill>
                <a:latin typeface="Public Sans Heavy"/>
                <a:ea typeface="Public Sans Heavy"/>
                <a:cs typeface="Public Sans Heavy"/>
                <a:sym typeface="Public Sans Heavy"/>
              </a:rPr>
              <a:t>exploraion</a:t>
            </a:r>
            <a:r>
              <a:rPr lang="en-US" sz="3200" b="1" dirty="0" smtClean="0">
                <a:solidFill>
                  <a:srgbClr val="222366"/>
                </a:solidFill>
                <a:latin typeface="Public Sans Heavy"/>
                <a:ea typeface="Public Sans Heavy"/>
                <a:cs typeface="Public Sans Heavy"/>
                <a:sym typeface="Public Sans Heavy"/>
              </a:rPr>
              <a:t> </a:t>
            </a:r>
            <a:r>
              <a:rPr lang="en-US" sz="3200" b="1" dirty="0">
                <a:solidFill>
                  <a:srgbClr val="222366"/>
                </a:solidFill>
                <a:latin typeface="Public Sans Heavy"/>
                <a:ea typeface="Public Sans Heavy"/>
                <a:cs typeface="Public Sans Heavy"/>
                <a:sym typeface="Public Sans Heavy"/>
              </a:rPr>
              <a:t>of innovations </a:t>
            </a:r>
          </a:p>
        </p:txBody>
      </p:sp>
      <p:sp>
        <p:nvSpPr>
          <p:cNvPr id="10" name="TextBox 10"/>
          <p:cNvSpPr txBox="1"/>
          <p:nvPr/>
        </p:nvSpPr>
        <p:spPr>
          <a:xfrm>
            <a:off x="131096" y="0"/>
            <a:ext cx="10035933" cy="1346522"/>
          </a:xfrm>
          <a:prstGeom prst="rect">
            <a:avLst/>
          </a:prstGeom>
        </p:spPr>
        <p:txBody>
          <a:bodyPr wrap="square" lIns="0" tIns="0" rIns="0" bIns="0" rtlCol="0" anchor="t">
            <a:spAutoFit/>
          </a:bodyPr>
          <a:lstStyle/>
          <a:p>
            <a:pPr algn="l">
              <a:lnSpc>
                <a:spcPts val="10500"/>
              </a:lnSpc>
            </a:pPr>
            <a:r>
              <a:rPr lang="en-US" sz="7500" dirty="0" smtClean="0">
                <a:solidFill>
                  <a:srgbClr val="222366"/>
                </a:solidFill>
                <a:latin typeface="Public Sans Heavy" panose="020B0604020202020204" charset="0"/>
                <a:ea typeface="Brick Sans"/>
                <a:cs typeface="Brick Sans"/>
                <a:sym typeface="Brick Sans"/>
              </a:rPr>
              <a:t>System Architecture</a:t>
            </a:r>
            <a:endParaRPr lang="en-US" sz="7500" dirty="0">
              <a:solidFill>
                <a:srgbClr val="222366"/>
              </a:solidFill>
              <a:latin typeface="Public Sans Heavy" panose="020B0604020202020204" charset="0"/>
              <a:ea typeface="Brick Sans"/>
              <a:cs typeface="Brick Sans"/>
              <a:sym typeface="Brick Sans"/>
            </a:endParaRPr>
          </a:p>
        </p:txBody>
      </p:sp>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t="5264" r="16137"/>
          <a:stretch/>
        </p:blipFill>
        <p:spPr>
          <a:xfrm>
            <a:off x="494032" y="1482382"/>
            <a:ext cx="9436603" cy="8726989"/>
          </a:xfrm>
          <a:prstGeom prst="rect">
            <a:avLst/>
          </a:prstGeom>
        </p:spPr>
      </p:pic>
    </p:spTree>
    <p:extLst>
      <p:ext uri="{BB962C8B-B14F-4D97-AF65-F5344CB8AC3E}">
        <p14:creationId xmlns:p14="http://schemas.microsoft.com/office/powerpoint/2010/main" val="1233122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7907480" y="2324100"/>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flipH="1">
            <a:off x="-76201" y="1040440"/>
            <a:ext cx="2991706" cy="7726439"/>
          </a:xfrm>
          <a:custGeom>
            <a:avLst/>
            <a:gdLst/>
            <a:ahLst/>
            <a:cxnLst/>
            <a:rect l="l" t="t" r="r" b="b"/>
            <a:pathLst>
              <a:path w="7876905" h="7726439">
                <a:moveTo>
                  <a:pt x="7876905" y="0"/>
                </a:moveTo>
                <a:lnTo>
                  <a:pt x="0" y="0"/>
                </a:lnTo>
                <a:lnTo>
                  <a:pt x="0" y="7726439"/>
                </a:lnTo>
                <a:lnTo>
                  <a:pt x="7876905" y="7726439"/>
                </a:lnTo>
                <a:lnTo>
                  <a:pt x="7876905" y="0"/>
                </a:lnTo>
                <a:close/>
              </a:path>
            </a:pathLst>
          </a:custGeom>
          <a:blipFill>
            <a:blip r:embed="rId2">
              <a:extLst>
                <a:ext uri="{96DAC541-7B7A-43D3-8B79-37D633B846F1}">
                  <asvg:svgBlip xmlns="" xmlns:asvg="http://schemas.microsoft.com/office/drawing/2016/SVG/main" r:embed="rId3"/>
                </a:ext>
              </a:extLst>
            </a:blip>
            <a:srcRect/>
            <a:stretch>
              <a:fillRect l="-1" r="-163290"/>
            </a:stretch>
          </a:blipFill>
        </p:spPr>
      </p:sp>
      <p:grpSp>
        <p:nvGrpSpPr>
          <p:cNvPr id="4" name="Group 4"/>
          <p:cNvGrpSpPr/>
          <p:nvPr/>
        </p:nvGrpSpPr>
        <p:grpSpPr>
          <a:xfrm>
            <a:off x="744124" y="238014"/>
            <a:ext cx="8327146" cy="1547614"/>
            <a:chOff x="0" y="0"/>
            <a:chExt cx="1108936" cy="359425"/>
          </a:xfrm>
        </p:grpSpPr>
        <p:sp>
          <p:nvSpPr>
            <p:cNvPr id="5" name="Freeform 5"/>
            <p:cNvSpPr/>
            <p:nvPr/>
          </p:nvSpPr>
          <p:spPr>
            <a:xfrm>
              <a:off x="0" y="0"/>
              <a:ext cx="1108936" cy="359425"/>
            </a:xfrm>
            <a:custGeom>
              <a:avLst/>
              <a:gdLst/>
              <a:ahLst/>
              <a:cxnLst/>
              <a:rect l="l" t="t" r="r" b="b"/>
              <a:pathLst>
                <a:path w="1108936" h="359425">
                  <a:moveTo>
                    <a:pt x="905736" y="0"/>
                  </a:moveTo>
                  <a:cubicBezTo>
                    <a:pt x="1017960" y="0"/>
                    <a:pt x="1108936" y="80460"/>
                    <a:pt x="1108936" y="179712"/>
                  </a:cubicBezTo>
                  <a:cubicBezTo>
                    <a:pt x="1108936" y="278965"/>
                    <a:pt x="1017960" y="359425"/>
                    <a:pt x="905736" y="359425"/>
                  </a:cubicBezTo>
                  <a:lnTo>
                    <a:pt x="203200" y="359425"/>
                  </a:lnTo>
                  <a:cubicBezTo>
                    <a:pt x="90976" y="359425"/>
                    <a:pt x="0" y="278965"/>
                    <a:pt x="0" y="179712"/>
                  </a:cubicBezTo>
                  <a:cubicBezTo>
                    <a:pt x="0" y="80460"/>
                    <a:pt x="90976" y="0"/>
                    <a:pt x="203200" y="0"/>
                  </a:cubicBezTo>
                  <a:close/>
                </a:path>
              </a:pathLst>
            </a:custGeom>
            <a:solidFill>
              <a:srgbClr val="E9EAF6"/>
            </a:solidFill>
            <a:ln w="19050" cap="sq">
              <a:solidFill>
                <a:srgbClr val="414370"/>
              </a:solidFill>
              <a:prstDash val="lgDash"/>
              <a:miter/>
            </a:ln>
          </p:spPr>
        </p:sp>
        <p:sp>
          <p:nvSpPr>
            <p:cNvPr id="6" name="TextBox 6"/>
            <p:cNvSpPr txBox="1"/>
            <p:nvPr/>
          </p:nvSpPr>
          <p:spPr>
            <a:xfrm>
              <a:off x="0" y="-38100"/>
              <a:ext cx="1108936" cy="397525"/>
            </a:xfrm>
            <a:prstGeom prst="rect">
              <a:avLst/>
            </a:prstGeom>
          </p:spPr>
          <p:txBody>
            <a:bodyPr lIns="50800" tIns="50800" rIns="50800" bIns="50800" rtlCol="0" anchor="ctr"/>
            <a:lstStyle/>
            <a:p>
              <a:pPr algn="ctr">
                <a:lnSpc>
                  <a:spcPts val="2660"/>
                </a:lnSpc>
              </a:pPr>
              <a:endParaRPr/>
            </a:p>
          </p:txBody>
        </p:sp>
      </p:grpSp>
      <p:grpSp>
        <p:nvGrpSpPr>
          <p:cNvPr id="7" name="Group 7"/>
          <p:cNvGrpSpPr/>
          <p:nvPr/>
        </p:nvGrpSpPr>
        <p:grpSpPr>
          <a:xfrm>
            <a:off x="715405" y="2103856"/>
            <a:ext cx="8577530" cy="1984585"/>
            <a:chOff x="0" y="0"/>
            <a:chExt cx="883555" cy="230560"/>
          </a:xfrm>
        </p:grpSpPr>
        <p:sp>
          <p:nvSpPr>
            <p:cNvPr id="8" name="Freeform 8"/>
            <p:cNvSpPr/>
            <p:nvPr/>
          </p:nvSpPr>
          <p:spPr>
            <a:xfrm>
              <a:off x="0" y="0"/>
              <a:ext cx="883555" cy="230560"/>
            </a:xfrm>
            <a:custGeom>
              <a:avLst/>
              <a:gdLst/>
              <a:ahLst/>
              <a:cxnLst/>
              <a:rect l="l" t="t" r="r" b="b"/>
              <a:pathLst>
                <a:path w="883555" h="230560">
                  <a:moveTo>
                    <a:pt x="680355" y="0"/>
                  </a:moveTo>
                  <a:cubicBezTo>
                    <a:pt x="792579" y="0"/>
                    <a:pt x="883555" y="51613"/>
                    <a:pt x="883555" y="115280"/>
                  </a:cubicBezTo>
                  <a:cubicBezTo>
                    <a:pt x="883555" y="178948"/>
                    <a:pt x="792579" y="230560"/>
                    <a:pt x="680355" y="230560"/>
                  </a:cubicBezTo>
                  <a:lnTo>
                    <a:pt x="203200" y="230560"/>
                  </a:lnTo>
                  <a:cubicBezTo>
                    <a:pt x="90976" y="230560"/>
                    <a:pt x="0" y="178948"/>
                    <a:pt x="0" y="115280"/>
                  </a:cubicBezTo>
                  <a:cubicBezTo>
                    <a:pt x="0" y="51613"/>
                    <a:pt x="90976" y="0"/>
                    <a:pt x="203200" y="0"/>
                  </a:cubicBezTo>
                  <a:close/>
                </a:path>
              </a:pathLst>
            </a:custGeom>
            <a:solidFill>
              <a:srgbClr val="E9EAF6"/>
            </a:solidFill>
            <a:ln w="19050" cap="sq">
              <a:solidFill>
                <a:srgbClr val="414370"/>
              </a:solidFill>
              <a:prstDash val="lgDash"/>
              <a:miter/>
            </a:ln>
          </p:spPr>
        </p:sp>
        <p:sp>
          <p:nvSpPr>
            <p:cNvPr id="9" name="TextBox 9"/>
            <p:cNvSpPr txBox="1"/>
            <p:nvPr/>
          </p:nvSpPr>
          <p:spPr>
            <a:xfrm>
              <a:off x="0" y="-38100"/>
              <a:ext cx="883555" cy="268660"/>
            </a:xfrm>
            <a:prstGeom prst="rect">
              <a:avLst/>
            </a:prstGeom>
          </p:spPr>
          <p:txBody>
            <a:bodyPr lIns="50800" tIns="50800" rIns="50800" bIns="50800" rtlCol="0" anchor="ctr"/>
            <a:lstStyle/>
            <a:p>
              <a:pPr algn="ctr">
                <a:lnSpc>
                  <a:spcPts val="2660"/>
                </a:lnSpc>
              </a:pPr>
              <a:endParaRPr/>
            </a:p>
          </p:txBody>
        </p:sp>
      </p:grpSp>
      <p:grpSp>
        <p:nvGrpSpPr>
          <p:cNvPr id="10" name="Group 10"/>
          <p:cNvGrpSpPr/>
          <p:nvPr/>
        </p:nvGrpSpPr>
        <p:grpSpPr>
          <a:xfrm>
            <a:off x="1167062" y="6338418"/>
            <a:ext cx="8296028" cy="1636211"/>
            <a:chOff x="0" y="0"/>
            <a:chExt cx="904654" cy="343447"/>
          </a:xfrm>
        </p:grpSpPr>
        <p:sp>
          <p:nvSpPr>
            <p:cNvPr id="11" name="Freeform 11"/>
            <p:cNvSpPr/>
            <p:nvPr/>
          </p:nvSpPr>
          <p:spPr>
            <a:xfrm>
              <a:off x="0" y="0"/>
              <a:ext cx="904654" cy="343447"/>
            </a:xfrm>
            <a:custGeom>
              <a:avLst/>
              <a:gdLst/>
              <a:ahLst/>
              <a:cxnLst/>
              <a:rect l="l" t="t" r="r" b="b"/>
              <a:pathLst>
                <a:path w="904654" h="343447">
                  <a:moveTo>
                    <a:pt x="701454" y="0"/>
                  </a:moveTo>
                  <a:cubicBezTo>
                    <a:pt x="813679" y="0"/>
                    <a:pt x="904654" y="76883"/>
                    <a:pt x="904654" y="171724"/>
                  </a:cubicBezTo>
                  <a:cubicBezTo>
                    <a:pt x="904654" y="266564"/>
                    <a:pt x="813679" y="343447"/>
                    <a:pt x="701454" y="343447"/>
                  </a:cubicBezTo>
                  <a:lnTo>
                    <a:pt x="203200" y="343447"/>
                  </a:lnTo>
                  <a:cubicBezTo>
                    <a:pt x="90976" y="343447"/>
                    <a:pt x="0" y="266564"/>
                    <a:pt x="0" y="171724"/>
                  </a:cubicBezTo>
                  <a:cubicBezTo>
                    <a:pt x="0" y="76883"/>
                    <a:pt x="90976" y="0"/>
                    <a:pt x="203200" y="0"/>
                  </a:cubicBezTo>
                  <a:close/>
                </a:path>
              </a:pathLst>
            </a:custGeom>
            <a:solidFill>
              <a:srgbClr val="E9EAF6"/>
            </a:solidFill>
            <a:ln w="19050" cap="sq">
              <a:solidFill>
                <a:srgbClr val="414370"/>
              </a:solidFill>
              <a:prstDash val="lgDash"/>
              <a:miter/>
            </a:ln>
          </p:spPr>
        </p:sp>
        <p:sp>
          <p:nvSpPr>
            <p:cNvPr id="12" name="TextBox 12"/>
            <p:cNvSpPr txBox="1"/>
            <p:nvPr/>
          </p:nvSpPr>
          <p:spPr>
            <a:xfrm>
              <a:off x="0" y="-38100"/>
              <a:ext cx="904654" cy="381547"/>
            </a:xfrm>
            <a:prstGeom prst="rect">
              <a:avLst/>
            </a:prstGeom>
          </p:spPr>
          <p:txBody>
            <a:bodyPr lIns="50800" tIns="50800" rIns="50800" bIns="50800" rtlCol="0" anchor="ctr"/>
            <a:lstStyle/>
            <a:p>
              <a:pPr algn="ctr">
                <a:lnSpc>
                  <a:spcPts val="2660"/>
                </a:lnSpc>
              </a:pPr>
              <a:endParaRPr/>
            </a:p>
          </p:txBody>
        </p:sp>
      </p:grpSp>
      <p:sp>
        <p:nvSpPr>
          <p:cNvPr id="13" name="Freeform 13"/>
          <p:cNvSpPr/>
          <p:nvPr/>
        </p:nvSpPr>
        <p:spPr>
          <a:xfrm flipH="1">
            <a:off x="9781803" y="4720052"/>
            <a:ext cx="4752275" cy="5528848"/>
          </a:xfrm>
          <a:custGeom>
            <a:avLst/>
            <a:gdLst/>
            <a:ahLst/>
            <a:cxnLst/>
            <a:rect l="l" t="t" r="r" b="b"/>
            <a:pathLst>
              <a:path w="4752275" h="6304842">
                <a:moveTo>
                  <a:pt x="4752275" y="0"/>
                </a:moveTo>
                <a:lnTo>
                  <a:pt x="0" y="0"/>
                </a:lnTo>
                <a:lnTo>
                  <a:pt x="0" y="6304842"/>
                </a:lnTo>
                <a:lnTo>
                  <a:pt x="4752275" y="6304842"/>
                </a:lnTo>
                <a:lnTo>
                  <a:pt x="4752275" y="0"/>
                </a:lnTo>
                <a:close/>
              </a:path>
            </a:pathLst>
          </a:custGeom>
          <a:blipFill>
            <a:blip r:embed="rId4">
              <a:extLst>
                <a:ext uri="{96DAC541-7B7A-43D3-8B79-37D633B846F1}">
                  <asvg:svgBlip xmlns="" xmlns:asvg="http://schemas.microsoft.com/office/drawing/2016/SVG/main" r:embed="rId5"/>
                </a:ext>
              </a:extLst>
            </a:blip>
            <a:srcRect/>
            <a:stretch>
              <a:fillRect t="1" b="-14036"/>
            </a:stretch>
          </a:blipFill>
        </p:spPr>
      </p:sp>
      <p:sp>
        <p:nvSpPr>
          <p:cNvPr id="14" name="Freeform 14"/>
          <p:cNvSpPr/>
          <p:nvPr/>
        </p:nvSpPr>
        <p:spPr>
          <a:xfrm rot="-1248570">
            <a:off x="15441987" y="7020335"/>
            <a:ext cx="2099363" cy="2991320"/>
          </a:xfrm>
          <a:custGeom>
            <a:avLst/>
            <a:gdLst/>
            <a:ahLst/>
            <a:cxnLst/>
            <a:rect l="l" t="t" r="r" b="b"/>
            <a:pathLst>
              <a:path w="2099363" h="2991320">
                <a:moveTo>
                  <a:pt x="0" y="0"/>
                </a:moveTo>
                <a:lnTo>
                  <a:pt x="2099363" y="0"/>
                </a:lnTo>
                <a:lnTo>
                  <a:pt x="2099363" y="2991320"/>
                </a:lnTo>
                <a:lnTo>
                  <a:pt x="0" y="2991320"/>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5" name="Freeform 15"/>
          <p:cNvSpPr/>
          <p:nvPr/>
        </p:nvSpPr>
        <p:spPr>
          <a:xfrm rot="-137149">
            <a:off x="16287298" y="2959572"/>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6" name="Freeform 16"/>
          <p:cNvSpPr/>
          <p:nvPr/>
        </p:nvSpPr>
        <p:spPr>
          <a:xfrm rot="1694329">
            <a:off x="203032" y="5559448"/>
            <a:ext cx="1419937" cy="1830907"/>
          </a:xfrm>
          <a:custGeom>
            <a:avLst/>
            <a:gdLst/>
            <a:ahLst/>
            <a:cxnLst/>
            <a:rect l="l" t="t" r="r" b="b"/>
            <a:pathLst>
              <a:path w="2066999" h="2383332">
                <a:moveTo>
                  <a:pt x="0" y="0"/>
                </a:moveTo>
                <a:lnTo>
                  <a:pt x="2066999" y="0"/>
                </a:lnTo>
                <a:lnTo>
                  <a:pt x="2066999" y="2383332"/>
                </a:lnTo>
                <a:lnTo>
                  <a:pt x="0" y="2383332"/>
                </a:lnTo>
                <a:lnTo>
                  <a:pt x="0" y="0"/>
                </a:lnTo>
                <a:close/>
              </a:path>
            </a:pathLst>
          </a:custGeom>
          <a:blipFill>
            <a:blip r:embed="rId10">
              <a:extLst>
                <a:ext uri="{96DAC541-7B7A-43D3-8B79-37D633B846F1}">
                  <asvg:svgBlip xmlns="" xmlns:asvg="http://schemas.microsoft.com/office/drawing/2016/SVG/main" r:embed="rId11"/>
                </a:ext>
              </a:extLst>
            </a:blip>
            <a:stretch>
              <a:fillRect/>
            </a:stretch>
          </a:blipFill>
        </p:spPr>
      </p:sp>
      <p:sp>
        <p:nvSpPr>
          <p:cNvPr id="17" name="TextBox 17"/>
          <p:cNvSpPr txBox="1"/>
          <p:nvPr/>
        </p:nvSpPr>
        <p:spPr>
          <a:xfrm>
            <a:off x="1028700" y="424358"/>
            <a:ext cx="7661679" cy="1192634"/>
          </a:xfrm>
          <a:prstGeom prst="rect">
            <a:avLst/>
          </a:prstGeom>
        </p:spPr>
        <p:txBody>
          <a:bodyPr wrap="square" lIns="0" tIns="0" rIns="0" bIns="0" rtlCol="0" anchor="t">
            <a:spAutoFit/>
          </a:bodyPr>
          <a:lstStyle/>
          <a:p>
            <a:pPr algn="ctr">
              <a:lnSpc>
                <a:spcPts val="3090"/>
              </a:lnSpc>
            </a:pPr>
            <a:r>
              <a:rPr lang="en-US" sz="2210" dirty="0">
                <a:solidFill>
                  <a:srgbClr val="222366"/>
                </a:solidFill>
                <a:latin typeface="Public Sans"/>
                <a:ea typeface="Public Sans"/>
                <a:cs typeface="Public Sans"/>
                <a:sym typeface="Public Sans"/>
              </a:rPr>
              <a:t>Automated Data Pipeline: Unlike existing tools, our platform automates raw data processing from GEO datasets, reducing the manual overhead for researchers.</a:t>
            </a:r>
          </a:p>
        </p:txBody>
      </p:sp>
      <p:sp>
        <p:nvSpPr>
          <p:cNvPr id="18" name="TextBox 18"/>
          <p:cNvSpPr txBox="1"/>
          <p:nvPr/>
        </p:nvSpPr>
        <p:spPr>
          <a:xfrm>
            <a:off x="1156380" y="2259064"/>
            <a:ext cx="7819625" cy="1795363"/>
          </a:xfrm>
          <a:prstGeom prst="rect">
            <a:avLst/>
          </a:prstGeom>
        </p:spPr>
        <p:txBody>
          <a:bodyPr wrap="square" lIns="0" tIns="0" rIns="0" bIns="0" rtlCol="0" anchor="t">
            <a:spAutoFit/>
          </a:bodyPr>
          <a:lstStyle/>
          <a:p>
            <a:pPr algn="ctr">
              <a:lnSpc>
                <a:spcPts val="3500"/>
              </a:lnSpc>
            </a:pPr>
            <a:r>
              <a:rPr lang="en-US" sz="2210" dirty="0">
                <a:solidFill>
                  <a:srgbClr val="222366"/>
                </a:solidFill>
                <a:latin typeface="Public Sans"/>
                <a:ea typeface="Public Sans"/>
                <a:cs typeface="Public Sans"/>
                <a:sym typeface="Public Sans"/>
              </a:rPr>
              <a:t>Integrated Machine Learning Models: The addition of ML classifiers that predict disease status based on gene expression is a novel enhancement, bridging raw data analysis with predictive biology.</a:t>
            </a:r>
          </a:p>
        </p:txBody>
      </p:sp>
      <p:sp>
        <p:nvSpPr>
          <p:cNvPr id="19" name="TextBox 19"/>
          <p:cNvSpPr txBox="1"/>
          <p:nvPr/>
        </p:nvSpPr>
        <p:spPr>
          <a:xfrm>
            <a:off x="1726397" y="6573143"/>
            <a:ext cx="7109965" cy="1299330"/>
          </a:xfrm>
          <a:prstGeom prst="rect">
            <a:avLst/>
          </a:prstGeom>
        </p:spPr>
        <p:txBody>
          <a:bodyPr wrap="square" lIns="0" tIns="0" rIns="0" bIns="0" rtlCol="0" anchor="t">
            <a:spAutoFit/>
          </a:bodyPr>
          <a:lstStyle/>
          <a:p>
            <a:pPr algn="ctr">
              <a:lnSpc>
                <a:spcPts val="3500"/>
              </a:lnSpc>
            </a:pPr>
            <a:r>
              <a:rPr lang="en-US" sz="2210" dirty="0">
                <a:solidFill>
                  <a:srgbClr val="222366"/>
                </a:solidFill>
                <a:latin typeface="Public Sans" panose="020B0604020202020204" charset="0"/>
                <a:ea typeface="Public Sans Bold"/>
                <a:cs typeface="Public Sans Bold"/>
                <a:sym typeface="Public Sans Bold"/>
              </a:rPr>
              <a:t>Modular and Scalable Architecture: </a:t>
            </a:r>
            <a:r>
              <a:rPr lang="en-US" sz="2210" dirty="0" err="1">
                <a:solidFill>
                  <a:srgbClr val="222366"/>
                </a:solidFill>
                <a:latin typeface="Public Sans" panose="020B0604020202020204" charset="0"/>
                <a:ea typeface="Public Sans Bold"/>
                <a:cs typeface="Public Sans Bold"/>
                <a:sym typeface="Public Sans Bold"/>
              </a:rPr>
              <a:t>Microservice</a:t>
            </a:r>
            <a:r>
              <a:rPr lang="en-US" sz="2210" dirty="0">
                <a:solidFill>
                  <a:srgbClr val="222366"/>
                </a:solidFill>
                <a:latin typeface="Public Sans" panose="020B0604020202020204" charset="0"/>
                <a:ea typeface="Public Sans Bold"/>
                <a:cs typeface="Public Sans Bold"/>
                <a:sym typeface="Public Sans Bold"/>
              </a:rPr>
              <a:t>-friendly design allows easy incorporation of future data types (proteomics, metabolomics) and analytics.</a:t>
            </a:r>
            <a:endParaRPr lang="en-US" sz="2210" dirty="0">
              <a:solidFill>
                <a:srgbClr val="222366"/>
              </a:solidFill>
              <a:latin typeface="Public Sans" panose="020B0604020202020204" charset="0"/>
              <a:ea typeface="Public Sans"/>
              <a:cs typeface="Public Sans"/>
              <a:sym typeface="Public Sans"/>
            </a:endParaRPr>
          </a:p>
        </p:txBody>
      </p:sp>
      <p:sp>
        <p:nvSpPr>
          <p:cNvPr id="20" name="TextBox 20"/>
          <p:cNvSpPr txBox="1"/>
          <p:nvPr/>
        </p:nvSpPr>
        <p:spPr>
          <a:xfrm>
            <a:off x="9196462" y="223770"/>
            <a:ext cx="9319484" cy="3400739"/>
          </a:xfrm>
          <a:prstGeom prst="rect">
            <a:avLst/>
          </a:prstGeom>
        </p:spPr>
        <p:txBody>
          <a:bodyPr lIns="0" tIns="0" rIns="0" bIns="0" rtlCol="0" anchor="t">
            <a:spAutoFit/>
          </a:bodyPr>
          <a:lstStyle/>
          <a:p>
            <a:pPr algn="ctr">
              <a:lnSpc>
                <a:spcPts val="9100"/>
              </a:lnSpc>
            </a:pPr>
            <a:r>
              <a:rPr lang="en-US" sz="6500" dirty="0">
                <a:solidFill>
                  <a:srgbClr val="222366"/>
                </a:solidFill>
                <a:latin typeface="Public Sans Heavy" panose="020B0604020202020204" charset="0"/>
                <a:ea typeface="Brick Sans"/>
                <a:cs typeface="Brick Sans"/>
                <a:sym typeface="Brick Sans"/>
              </a:rPr>
              <a:t>Impactful Modifications and Innovations</a:t>
            </a:r>
          </a:p>
        </p:txBody>
      </p:sp>
      <p:grpSp>
        <p:nvGrpSpPr>
          <p:cNvPr id="21" name="Group 21"/>
          <p:cNvGrpSpPr/>
          <p:nvPr/>
        </p:nvGrpSpPr>
        <p:grpSpPr>
          <a:xfrm>
            <a:off x="1069652" y="4409943"/>
            <a:ext cx="8223283" cy="1550478"/>
            <a:chOff x="0" y="0"/>
            <a:chExt cx="883555" cy="289121"/>
          </a:xfrm>
        </p:grpSpPr>
        <p:sp>
          <p:nvSpPr>
            <p:cNvPr id="22" name="Freeform 22"/>
            <p:cNvSpPr/>
            <p:nvPr/>
          </p:nvSpPr>
          <p:spPr>
            <a:xfrm>
              <a:off x="0" y="0"/>
              <a:ext cx="883555" cy="289121"/>
            </a:xfrm>
            <a:custGeom>
              <a:avLst/>
              <a:gdLst/>
              <a:ahLst/>
              <a:cxnLst/>
              <a:rect l="l" t="t" r="r" b="b"/>
              <a:pathLst>
                <a:path w="883555" h="289121">
                  <a:moveTo>
                    <a:pt x="680355" y="0"/>
                  </a:moveTo>
                  <a:cubicBezTo>
                    <a:pt x="792579" y="0"/>
                    <a:pt x="883555" y="64722"/>
                    <a:pt x="883555" y="144560"/>
                  </a:cubicBezTo>
                  <a:cubicBezTo>
                    <a:pt x="883555" y="224399"/>
                    <a:pt x="792579" y="289121"/>
                    <a:pt x="680355" y="289121"/>
                  </a:cubicBezTo>
                  <a:lnTo>
                    <a:pt x="203200" y="289121"/>
                  </a:lnTo>
                  <a:cubicBezTo>
                    <a:pt x="90976" y="289121"/>
                    <a:pt x="0" y="224399"/>
                    <a:pt x="0" y="144560"/>
                  </a:cubicBezTo>
                  <a:cubicBezTo>
                    <a:pt x="0" y="64722"/>
                    <a:pt x="90976" y="0"/>
                    <a:pt x="203200" y="0"/>
                  </a:cubicBezTo>
                  <a:close/>
                </a:path>
              </a:pathLst>
            </a:custGeom>
            <a:solidFill>
              <a:srgbClr val="E9EAF6"/>
            </a:solidFill>
            <a:ln w="19050" cap="sq">
              <a:solidFill>
                <a:srgbClr val="414370"/>
              </a:solidFill>
              <a:prstDash val="lgDash"/>
              <a:miter/>
            </a:ln>
          </p:spPr>
        </p:sp>
        <p:sp>
          <p:nvSpPr>
            <p:cNvPr id="23" name="TextBox 23"/>
            <p:cNvSpPr txBox="1"/>
            <p:nvPr/>
          </p:nvSpPr>
          <p:spPr>
            <a:xfrm>
              <a:off x="0" y="-38100"/>
              <a:ext cx="883555" cy="327221"/>
            </a:xfrm>
            <a:prstGeom prst="rect">
              <a:avLst/>
            </a:prstGeom>
          </p:spPr>
          <p:txBody>
            <a:bodyPr lIns="50800" tIns="50800" rIns="50800" bIns="50800" rtlCol="0" anchor="ctr"/>
            <a:lstStyle/>
            <a:p>
              <a:pPr algn="ctr">
                <a:lnSpc>
                  <a:spcPts val="2660"/>
                </a:lnSpc>
              </a:pPr>
              <a:endParaRPr/>
            </a:p>
          </p:txBody>
        </p:sp>
      </p:grpSp>
      <p:sp>
        <p:nvSpPr>
          <p:cNvPr id="24" name="TextBox 24"/>
          <p:cNvSpPr txBox="1"/>
          <p:nvPr/>
        </p:nvSpPr>
        <p:spPr>
          <a:xfrm>
            <a:off x="1470710" y="4528131"/>
            <a:ext cx="7504111" cy="1299458"/>
          </a:xfrm>
          <a:prstGeom prst="rect">
            <a:avLst/>
          </a:prstGeom>
        </p:spPr>
        <p:txBody>
          <a:bodyPr wrap="square" lIns="0" tIns="0" rIns="0" bIns="0" rtlCol="0" anchor="t">
            <a:spAutoFit/>
          </a:bodyPr>
          <a:lstStyle/>
          <a:p>
            <a:pPr algn="ctr">
              <a:lnSpc>
                <a:spcPts val="3500"/>
              </a:lnSpc>
            </a:pPr>
            <a:r>
              <a:rPr lang="en-US" sz="2210" dirty="0">
                <a:solidFill>
                  <a:srgbClr val="222366"/>
                </a:solidFill>
                <a:latin typeface="Public Sans"/>
                <a:ea typeface="Public Sans"/>
                <a:cs typeface="Public Sans"/>
                <a:sym typeface="Public Sans"/>
              </a:rPr>
              <a:t>Interactive Gene Query Interface: Enables non-programmers to perform gene-specific investigations, lowering the technical entry barrier.</a:t>
            </a:r>
          </a:p>
        </p:txBody>
      </p:sp>
      <p:grpSp>
        <p:nvGrpSpPr>
          <p:cNvPr id="25" name="Group 7"/>
          <p:cNvGrpSpPr/>
          <p:nvPr/>
        </p:nvGrpSpPr>
        <p:grpSpPr>
          <a:xfrm>
            <a:off x="1237061" y="8382802"/>
            <a:ext cx="8296028" cy="1613510"/>
            <a:chOff x="0" y="0"/>
            <a:chExt cx="883555" cy="230560"/>
          </a:xfrm>
        </p:grpSpPr>
        <p:sp>
          <p:nvSpPr>
            <p:cNvPr id="26" name="Freeform 8"/>
            <p:cNvSpPr/>
            <p:nvPr/>
          </p:nvSpPr>
          <p:spPr>
            <a:xfrm>
              <a:off x="0" y="0"/>
              <a:ext cx="883555" cy="230560"/>
            </a:xfrm>
            <a:custGeom>
              <a:avLst/>
              <a:gdLst/>
              <a:ahLst/>
              <a:cxnLst/>
              <a:rect l="l" t="t" r="r" b="b"/>
              <a:pathLst>
                <a:path w="883555" h="230560">
                  <a:moveTo>
                    <a:pt x="680355" y="0"/>
                  </a:moveTo>
                  <a:cubicBezTo>
                    <a:pt x="792579" y="0"/>
                    <a:pt x="883555" y="51613"/>
                    <a:pt x="883555" y="115280"/>
                  </a:cubicBezTo>
                  <a:cubicBezTo>
                    <a:pt x="883555" y="178948"/>
                    <a:pt x="792579" y="230560"/>
                    <a:pt x="680355" y="230560"/>
                  </a:cubicBezTo>
                  <a:lnTo>
                    <a:pt x="203200" y="230560"/>
                  </a:lnTo>
                  <a:cubicBezTo>
                    <a:pt x="90976" y="230560"/>
                    <a:pt x="0" y="178948"/>
                    <a:pt x="0" y="115280"/>
                  </a:cubicBezTo>
                  <a:cubicBezTo>
                    <a:pt x="0" y="51613"/>
                    <a:pt x="90976" y="0"/>
                    <a:pt x="203200" y="0"/>
                  </a:cubicBezTo>
                  <a:close/>
                </a:path>
              </a:pathLst>
            </a:custGeom>
            <a:solidFill>
              <a:srgbClr val="E9EAF6"/>
            </a:solidFill>
            <a:ln w="19050" cap="sq">
              <a:solidFill>
                <a:srgbClr val="414370"/>
              </a:solidFill>
              <a:prstDash val="lgDash"/>
              <a:miter/>
            </a:ln>
          </p:spPr>
        </p:sp>
        <p:sp>
          <p:nvSpPr>
            <p:cNvPr id="27" name="TextBox 9"/>
            <p:cNvSpPr txBox="1"/>
            <p:nvPr/>
          </p:nvSpPr>
          <p:spPr>
            <a:xfrm>
              <a:off x="0" y="-38100"/>
              <a:ext cx="883555" cy="268660"/>
            </a:xfrm>
            <a:prstGeom prst="rect">
              <a:avLst/>
            </a:prstGeom>
          </p:spPr>
          <p:txBody>
            <a:bodyPr lIns="50800" tIns="50800" rIns="50800" bIns="50800" rtlCol="0" anchor="ctr"/>
            <a:lstStyle/>
            <a:p>
              <a:pPr algn="ctr">
                <a:lnSpc>
                  <a:spcPts val="2660"/>
                </a:lnSpc>
              </a:pPr>
              <a:endParaRPr/>
            </a:p>
          </p:txBody>
        </p:sp>
      </p:grpSp>
      <p:sp>
        <p:nvSpPr>
          <p:cNvPr id="28" name="Rectangle 27"/>
          <p:cNvSpPr/>
          <p:nvPr/>
        </p:nvSpPr>
        <p:spPr>
          <a:xfrm>
            <a:off x="1701367" y="8567581"/>
            <a:ext cx="7885015" cy="1112612"/>
          </a:xfrm>
          <a:prstGeom prst="rect">
            <a:avLst/>
          </a:prstGeom>
        </p:spPr>
        <p:txBody>
          <a:bodyPr wrap="square">
            <a:spAutoFit/>
          </a:bodyPr>
          <a:lstStyle/>
          <a:p>
            <a:r>
              <a:rPr lang="en-US" sz="2210" dirty="0">
                <a:solidFill>
                  <a:srgbClr val="002060"/>
                </a:solidFill>
                <a:latin typeface="Public Sans" panose="020B0604020202020204" charset="0"/>
                <a:ea typeface="Sans Serif Collection" panose="020B0502040504020204" pitchFamily="34" charset="0"/>
                <a:cs typeface="Sans Serif Collection" panose="020B0502040504020204" pitchFamily="34" charset="0"/>
              </a:rPr>
              <a:t>Real-time Visualization Updates: Immediate feedback on analysis through dynamic plots improves exploratory data analysis efficiency.</a:t>
            </a:r>
          </a:p>
        </p:txBody>
      </p:sp>
    </p:spTree>
    <p:extLst>
      <p:ext uri="{BB962C8B-B14F-4D97-AF65-F5344CB8AC3E}">
        <p14:creationId xmlns:p14="http://schemas.microsoft.com/office/powerpoint/2010/main" val="1714324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F3"/>
        </a:solidFill>
        <a:effectLst/>
      </p:bgPr>
    </p:bg>
    <p:spTree>
      <p:nvGrpSpPr>
        <p:cNvPr id="1" name=""/>
        <p:cNvGrpSpPr/>
        <p:nvPr/>
      </p:nvGrpSpPr>
      <p:grpSpPr>
        <a:xfrm>
          <a:off x="0" y="0"/>
          <a:ext cx="0" cy="0"/>
          <a:chOff x="0" y="0"/>
          <a:chExt cx="0" cy="0"/>
        </a:xfrm>
      </p:grpSpPr>
      <p:sp>
        <p:nvSpPr>
          <p:cNvPr id="2" name="Freeform 2"/>
          <p:cNvSpPr/>
          <p:nvPr/>
        </p:nvSpPr>
        <p:spPr>
          <a:xfrm>
            <a:off x="-1547916" y="-318668"/>
            <a:ext cx="7876905"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1397882" y="1397598"/>
            <a:ext cx="7399403" cy="9003702"/>
          </a:xfrm>
          <a:custGeom>
            <a:avLst/>
            <a:gdLst/>
            <a:ahLst/>
            <a:cxnLst/>
            <a:rect l="l" t="t" r="r" b="b"/>
            <a:pathLst>
              <a:path w="7399403" h="11629710">
                <a:moveTo>
                  <a:pt x="0" y="0"/>
                </a:moveTo>
                <a:lnTo>
                  <a:pt x="7399403" y="0"/>
                </a:lnTo>
                <a:lnTo>
                  <a:pt x="7399403" y="11629709"/>
                </a:lnTo>
                <a:lnTo>
                  <a:pt x="0" y="11629709"/>
                </a:lnTo>
                <a:lnTo>
                  <a:pt x="0" y="0"/>
                </a:lnTo>
                <a:close/>
              </a:path>
            </a:pathLst>
          </a:custGeom>
          <a:blipFill>
            <a:blip r:embed="rId4">
              <a:extLst>
                <a:ext uri="{96DAC541-7B7A-43D3-8B79-37D633B846F1}">
                  <asvg:svgBlip xmlns="" xmlns:asvg="http://schemas.microsoft.com/office/drawing/2016/SVG/main" r:embed="rId5"/>
                </a:ext>
              </a:extLst>
            </a:blip>
            <a:srcRect/>
            <a:stretch>
              <a:fillRect b="-29166"/>
            </a:stretch>
          </a:blipFill>
        </p:spPr>
      </p:sp>
      <p:grpSp>
        <p:nvGrpSpPr>
          <p:cNvPr id="4" name="Group 4"/>
          <p:cNvGrpSpPr/>
          <p:nvPr/>
        </p:nvGrpSpPr>
        <p:grpSpPr>
          <a:xfrm>
            <a:off x="1827397" y="2631683"/>
            <a:ext cx="6674377" cy="7769617"/>
            <a:chOff x="0" y="0"/>
            <a:chExt cx="942785" cy="1143920"/>
          </a:xfrm>
        </p:grpSpPr>
        <p:sp>
          <p:nvSpPr>
            <p:cNvPr id="5" name="Freeform 5"/>
            <p:cNvSpPr/>
            <p:nvPr/>
          </p:nvSpPr>
          <p:spPr>
            <a:xfrm>
              <a:off x="0" y="0"/>
              <a:ext cx="942785" cy="1143920"/>
            </a:xfrm>
            <a:custGeom>
              <a:avLst/>
              <a:gdLst/>
              <a:ahLst/>
              <a:cxnLst/>
              <a:rect l="l" t="t" r="r" b="b"/>
              <a:pathLst>
                <a:path w="942785" h="1143920">
                  <a:moveTo>
                    <a:pt x="0" y="0"/>
                  </a:moveTo>
                  <a:lnTo>
                    <a:pt x="942785" y="0"/>
                  </a:lnTo>
                  <a:lnTo>
                    <a:pt x="942785" y="1143920"/>
                  </a:lnTo>
                  <a:lnTo>
                    <a:pt x="0" y="1143920"/>
                  </a:lnTo>
                  <a:close/>
                </a:path>
              </a:pathLst>
            </a:custGeom>
            <a:solidFill>
              <a:srgbClr val="E9EAF6"/>
            </a:solidFill>
          </p:spPr>
        </p:sp>
        <p:sp>
          <p:nvSpPr>
            <p:cNvPr id="6" name="TextBox 6"/>
            <p:cNvSpPr txBox="1"/>
            <p:nvPr/>
          </p:nvSpPr>
          <p:spPr>
            <a:xfrm>
              <a:off x="0" y="-38100"/>
              <a:ext cx="942785" cy="1182020"/>
            </a:xfrm>
            <a:prstGeom prst="rect">
              <a:avLst/>
            </a:prstGeom>
          </p:spPr>
          <p:txBody>
            <a:bodyPr lIns="50800" tIns="50800" rIns="50800" bIns="50800" rtlCol="0" anchor="ctr"/>
            <a:lstStyle/>
            <a:p>
              <a:pPr algn="ctr">
                <a:lnSpc>
                  <a:spcPts val="2660"/>
                </a:lnSpc>
                <a:spcBef>
                  <a:spcPct val="0"/>
                </a:spcBef>
              </a:pPr>
              <a:endParaRPr/>
            </a:p>
          </p:txBody>
        </p:sp>
      </p:grpSp>
      <p:sp>
        <p:nvSpPr>
          <p:cNvPr id="7" name="Freeform 7"/>
          <p:cNvSpPr/>
          <p:nvPr/>
        </p:nvSpPr>
        <p:spPr>
          <a:xfrm>
            <a:off x="9014245" y="-567187"/>
            <a:ext cx="9101101" cy="7726439"/>
          </a:xfrm>
          <a:custGeom>
            <a:avLst/>
            <a:gdLst/>
            <a:ahLst/>
            <a:cxnLst/>
            <a:rect l="l" t="t" r="r" b="b"/>
            <a:pathLst>
              <a:path w="7876905" h="7726439">
                <a:moveTo>
                  <a:pt x="0" y="0"/>
                </a:moveTo>
                <a:lnTo>
                  <a:pt x="7876905" y="0"/>
                </a:lnTo>
                <a:lnTo>
                  <a:pt x="7876905" y="7726439"/>
                </a:lnTo>
                <a:lnTo>
                  <a:pt x="0" y="772643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8" name="Freeform 8"/>
          <p:cNvSpPr/>
          <p:nvPr/>
        </p:nvSpPr>
        <p:spPr>
          <a:xfrm>
            <a:off x="9621503" y="1333500"/>
            <a:ext cx="8355686" cy="8991600"/>
          </a:xfrm>
          <a:custGeom>
            <a:avLst/>
            <a:gdLst/>
            <a:ahLst/>
            <a:cxnLst/>
            <a:rect l="l" t="t" r="r" b="b"/>
            <a:pathLst>
              <a:path w="7399403" h="11629710">
                <a:moveTo>
                  <a:pt x="0" y="0"/>
                </a:moveTo>
                <a:lnTo>
                  <a:pt x="7399403" y="0"/>
                </a:lnTo>
                <a:lnTo>
                  <a:pt x="7399403" y="11629709"/>
                </a:lnTo>
                <a:lnTo>
                  <a:pt x="0" y="11629709"/>
                </a:lnTo>
                <a:lnTo>
                  <a:pt x="0" y="0"/>
                </a:lnTo>
                <a:close/>
              </a:path>
            </a:pathLst>
          </a:custGeom>
          <a:blipFill>
            <a:blip r:embed="rId4">
              <a:extLst>
                <a:ext uri="{96DAC541-7B7A-43D3-8B79-37D633B846F1}">
                  <asvg:svgBlip xmlns="" xmlns:asvg="http://schemas.microsoft.com/office/drawing/2016/SVG/main" r:embed="rId5"/>
                </a:ext>
              </a:extLst>
            </a:blip>
            <a:srcRect/>
            <a:stretch>
              <a:fillRect b="-29340"/>
            </a:stretch>
          </a:blipFill>
        </p:spPr>
      </p:sp>
      <p:grpSp>
        <p:nvGrpSpPr>
          <p:cNvPr id="9" name="Group 9"/>
          <p:cNvGrpSpPr/>
          <p:nvPr/>
        </p:nvGrpSpPr>
        <p:grpSpPr>
          <a:xfrm>
            <a:off x="10123306" y="2678399"/>
            <a:ext cx="7370721" cy="7608601"/>
            <a:chOff x="0" y="0"/>
            <a:chExt cx="817629" cy="1181928"/>
          </a:xfrm>
        </p:grpSpPr>
        <p:sp>
          <p:nvSpPr>
            <p:cNvPr id="10" name="Freeform 10"/>
            <p:cNvSpPr/>
            <p:nvPr/>
          </p:nvSpPr>
          <p:spPr>
            <a:xfrm>
              <a:off x="0" y="0"/>
              <a:ext cx="817629" cy="1181927"/>
            </a:xfrm>
            <a:custGeom>
              <a:avLst/>
              <a:gdLst/>
              <a:ahLst/>
              <a:cxnLst/>
              <a:rect l="l" t="t" r="r" b="b"/>
              <a:pathLst>
                <a:path w="817629" h="1181927">
                  <a:moveTo>
                    <a:pt x="0" y="0"/>
                  </a:moveTo>
                  <a:lnTo>
                    <a:pt x="817629" y="0"/>
                  </a:lnTo>
                  <a:lnTo>
                    <a:pt x="817629" y="1181927"/>
                  </a:lnTo>
                  <a:lnTo>
                    <a:pt x="0" y="1181927"/>
                  </a:lnTo>
                  <a:close/>
                </a:path>
              </a:pathLst>
            </a:custGeom>
            <a:solidFill>
              <a:srgbClr val="E9EAF6"/>
            </a:solidFill>
          </p:spPr>
        </p:sp>
        <p:sp>
          <p:nvSpPr>
            <p:cNvPr id="11" name="TextBox 11"/>
            <p:cNvSpPr txBox="1"/>
            <p:nvPr/>
          </p:nvSpPr>
          <p:spPr>
            <a:xfrm>
              <a:off x="0" y="-38100"/>
              <a:ext cx="817629" cy="1220028"/>
            </a:xfrm>
            <a:prstGeom prst="rect">
              <a:avLst/>
            </a:prstGeom>
          </p:spPr>
          <p:txBody>
            <a:bodyPr lIns="50800" tIns="50800" rIns="50800" bIns="50800" rtlCol="0" anchor="ctr"/>
            <a:lstStyle/>
            <a:p>
              <a:pPr algn="ctr">
                <a:lnSpc>
                  <a:spcPts val="2660"/>
                </a:lnSpc>
                <a:spcBef>
                  <a:spcPct val="0"/>
                </a:spcBef>
              </a:pPr>
              <a:endParaRPr/>
            </a:p>
          </p:txBody>
        </p:sp>
      </p:grpSp>
      <p:sp>
        <p:nvSpPr>
          <p:cNvPr id="12" name="Freeform 12"/>
          <p:cNvSpPr/>
          <p:nvPr/>
        </p:nvSpPr>
        <p:spPr>
          <a:xfrm rot="-1257881">
            <a:off x="-875355" y="795353"/>
            <a:ext cx="3549762" cy="3440042"/>
          </a:xfrm>
          <a:custGeom>
            <a:avLst/>
            <a:gdLst/>
            <a:ahLst/>
            <a:cxnLst/>
            <a:rect l="l" t="t" r="r" b="b"/>
            <a:pathLst>
              <a:path w="3549762" h="3440042">
                <a:moveTo>
                  <a:pt x="0" y="0"/>
                </a:moveTo>
                <a:lnTo>
                  <a:pt x="3549762" y="0"/>
                </a:lnTo>
                <a:lnTo>
                  <a:pt x="3549762" y="3440042"/>
                </a:lnTo>
                <a:lnTo>
                  <a:pt x="0" y="3440042"/>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3" name="Freeform 13"/>
          <p:cNvSpPr/>
          <p:nvPr/>
        </p:nvSpPr>
        <p:spPr>
          <a:xfrm rot="-137149">
            <a:off x="8642005" y="1318687"/>
            <a:ext cx="1402006" cy="1402006"/>
          </a:xfrm>
          <a:custGeom>
            <a:avLst/>
            <a:gdLst/>
            <a:ahLst/>
            <a:cxnLst/>
            <a:rect l="l" t="t" r="r" b="b"/>
            <a:pathLst>
              <a:path w="1402006" h="1402006">
                <a:moveTo>
                  <a:pt x="0" y="0"/>
                </a:moveTo>
                <a:lnTo>
                  <a:pt x="1402006" y="0"/>
                </a:lnTo>
                <a:lnTo>
                  <a:pt x="1402006" y="1402006"/>
                </a:lnTo>
                <a:lnTo>
                  <a:pt x="0" y="1402006"/>
                </a:lnTo>
                <a:lnTo>
                  <a:pt x="0" y="0"/>
                </a:lnTo>
                <a:close/>
              </a:path>
            </a:pathLst>
          </a:custGeom>
          <a:blipFill>
            <a:blip r:embed="rId8">
              <a:extLst>
                <a:ext uri="{96DAC541-7B7A-43D3-8B79-37D633B846F1}">
                  <asvg:svgBlip xmlns="" xmlns:asvg="http://schemas.microsoft.com/office/drawing/2016/SVG/main" r:embed="rId9"/>
                </a:ext>
              </a:extLst>
            </a:blip>
            <a:stretch>
              <a:fillRect/>
            </a:stretch>
          </a:blipFill>
        </p:spPr>
      </p:sp>
      <p:sp>
        <p:nvSpPr>
          <p:cNvPr id="14" name="TextBox 14"/>
          <p:cNvSpPr txBox="1"/>
          <p:nvPr/>
        </p:nvSpPr>
        <p:spPr>
          <a:xfrm>
            <a:off x="1892600" y="3296033"/>
            <a:ext cx="6409965" cy="6685228"/>
          </a:xfrm>
          <a:prstGeom prst="rect">
            <a:avLst/>
          </a:prstGeom>
        </p:spPr>
        <p:txBody>
          <a:bodyPr wrap="square" lIns="0" tIns="0" rIns="0" bIns="0" rtlCol="0" anchor="t">
            <a:spAutoFit/>
          </a:bodyPr>
          <a:lstStyle/>
          <a:p>
            <a:pPr marL="342900" indent="-342900" algn="just">
              <a:lnSpc>
                <a:spcPts val="3500"/>
              </a:lnSpc>
              <a:buFont typeface="Arial" panose="020B0604020202020204" pitchFamily="34" charset="0"/>
              <a:buChar char="•"/>
            </a:pPr>
            <a:r>
              <a:rPr lang="en-US" sz="2300" dirty="0">
                <a:solidFill>
                  <a:srgbClr val="222366"/>
                </a:solidFill>
                <a:latin typeface="Public Sans"/>
                <a:ea typeface="Public Sans"/>
                <a:cs typeface="Public Sans"/>
                <a:sym typeface="Public Sans"/>
              </a:rPr>
              <a:t>Technical Feasibility</a:t>
            </a:r>
            <a:r>
              <a:rPr lang="en-US" sz="2300" dirty="0" smtClean="0">
                <a:solidFill>
                  <a:srgbClr val="222366"/>
                </a:solidFill>
                <a:latin typeface="Public Sans"/>
                <a:ea typeface="Public Sans"/>
                <a:cs typeface="Public Sans"/>
                <a:sym typeface="Public Sans"/>
              </a:rPr>
              <a:t>: The </a:t>
            </a:r>
            <a:r>
              <a:rPr lang="en-US" sz="2300" dirty="0">
                <a:solidFill>
                  <a:srgbClr val="222366"/>
                </a:solidFill>
                <a:latin typeface="Public Sans"/>
                <a:ea typeface="Public Sans"/>
                <a:cs typeface="Public Sans"/>
                <a:sym typeface="Public Sans"/>
              </a:rPr>
              <a:t>use of well-established open-source libraries and frameworks (</a:t>
            </a:r>
            <a:r>
              <a:rPr lang="en-US" sz="2300" dirty="0" err="1">
                <a:solidFill>
                  <a:srgbClr val="222366"/>
                </a:solidFill>
                <a:latin typeface="Public Sans"/>
                <a:ea typeface="Public Sans"/>
                <a:cs typeface="Public Sans"/>
                <a:sym typeface="Public Sans"/>
              </a:rPr>
              <a:t>scikit</a:t>
            </a:r>
            <a:r>
              <a:rPr lang="en-US" sz="2300" dirty="0">
                <a:solidFill>
                  <a:srgbClr val="222366"/>
                </a:solidFill>
                <a:latin typeface="Public Sans"/>
                <a:ea typeface="Public Sans"/>
                <a:cs typeface="Public Sans"/>
                <a:sym typeface="Public Sans"/>
              </a:rPr>
              <a:t>-learn, </a:t>
            </a:r>
            <a:r>
              <a:rPr lang="en-US" sz="2300" dirty="0" err="1">
                <a:solidFill>
                  <a:srgbClr val="222366"/>
                </a:solidFill>
                <a:latin typeface="Public Sans"/>
                <a:ea typeface="Public Sans"/>
                <a:cs typeface="Public Sans"/>
                <a:sym typeface="Public Sans"/>
              </a:rPr>
              <a:t>Plotly</a:t>
            </a:r>
            <a:r>
              <a:rPr lang="en-US" sz="2300" dirty="0">
                <a:solidFill>
                  <a:srgbClr val="222366"/>
                </a:solidFill>
                <a:latin typeface="Public Sans"/>
                <a:ea typeface="Public Sans"/>
                <a:cs typeface="Public Sans"/>
                <a:sym typeface="Public Sans"/>
              </a:rPr>
              <a:t>, Flask) ensures that the solution is implementable with current technology. GEO datasets provide ample, high-quality data for development and testing</a:t>
            </a:r>
            <a:r>
              <a:rPr lang="en-US" sz="2300" dirty="0" smtClean="0">
                <a:solidFill>
                  <a:srgbClr val="222366"/>
                </a:solidFill>
                <a:latin typeface="Public Sans"/>
                <a:ea typeface="Public Sans"/>
                <a:cs typeface="Public Sans"/>
                <a:sym typeface="Public Sans"/>
              </a:rPr>
              <a:t>.</a:t>
            </a:r>
          </a:p>
          <a:p>
            <a:pPr marL="342900" indent="-342900" algn="just">
              <a:lnSpc>
                <a:spcPts val="3500"/>
              </a:lnSpc>
              <a:buFont typeface="Arial" panose="020B0604020202020204" pitchFamily="34" charset="0"/>
              <a:buChar char="•"/>
            </a:pPr>
            <a:r>
              <a:rPr lang="en-US" sz="2300" dirty="0" smtClean="0">
                <a:solidFill>
                  <a:srgbClr val="222366"/>
                </a:solidFill>
                <a:latin typeface="Public Sans"/>
                <a:ea typeface="Public Sans"/>
                <a:cs typeface="Public Sans"/>
                <a:sym typeface="Public Sans"/>
              </a:rPr>
              <a:t>Operational </a:t>
            </a:r>
            <a:r>
              <a:rPr lang="en-US" sz="2300" dirty="0">
                <a:solidFill>
                  <a:srgbClr val="222366"/>
                </a:solidFill>
                <a:latin typeface="Public Sans"/>
                <a:ea typeface="Public Sans"/>
                <a:cs typeface="Public Sans"/>
                <a:sym typeface="Public Sans"/>
              </a:rPr>
              <a:t>Feasibility</a:t>
            </a:r>
            <a:r>
              <a:rPr lang="en-US" sz="2300" dirty="0" smtClean="0">
                <a:solidFill>
                  <a:srgbClr val="222366"/>
                </a:solidFill>
                <a:latin typeface="Public Sans"/>
                <a:ea typeface="Public Sans"/>
                <a:cs typeface="Public Sans"/>
                <a:sym typeface="Public Sans"/>
              </a:rPr>
              <a:t>: Designed </a:t>
            </a:r>
            <a:r>
              <a:rPr lang="en-US" sz="2300" dirty="0">
                <a:solidFill>
                  <a:srgbClr val="222366"/>
                </a:solidFill>
                <a:latin typeface="Public Sans"/>
                <a:ea typeface="Public Sans"/>
                <a:cs typeface="Public Sans"/>
                <a:sym typeface="Public Sans"/>
              </a:rPr>
              <a:t>for ease of use by non-expert users, the web-based UI simplifies complex genomic analyses without requiring programming skills</a:t>
            </a:r>
            <a:r>
              <a:rPr lang="en-US" sz="2300" dirty="0" smtClean="0">
                <a:solidFill>
                  <a:srgbClr val="222366"/>
                </a:solidFill>
                <a:latin typeface="Public Sans"/>
                <a:ea typeface="Public Sans"/>
                <a:cs typeface="Public Sans"/>
                <a:sym typeface="Public Sans"/>
              </a:rPr>
              <a:t>.</a:t>
            </a:r>
          </a:p>
          <a:p>
            <a:pPr marL="342900" indent="-342900" algn="just">
              <a:lnSpc>
                <a:spcPts val="3500"/>
              </a:lnSpc>
              <a:buFont typeface="Arial" panose="020B0604020202020204" pitchFamily="34" charset="0"/>
              <a:buChar char="•"/>
            </a:pPr>
            <a:r>
              <a:rPr lang="en-US" sz="2300" dirty="0" smtClean="0">
                <a:solidFill>
                  <a:srgbClr val="222366"/>
                </a:solidFill>
                <a:latin typeface="Public Sans"/>
                <a:ea typeface="Public Sans"/>
                <a:cs typeface="Public Sans"/>
                <a:sym typeface="Public Sans"/>
              </a:rPr>
              <a:t>Scalability </a:t>
            </a:r>
            <a:r>
              <a:rPr lang="en-US" sz="2300" dirty="0">
                <a:solidFill>
                  <a:srgbClr val="222366"/>
                </a:solidFill>
                <a:latin typeface="Public Sans"/>
                <a:ea typeface="Public Sans"/>
                <a:cs typeface="Public Sans"/>
                <a:sym typeface="Public Sans"/>
              </a:rPr>
              <a:t>Feasibility</a:t>
            </a:r>
            <a:r>
              <a:rPr lang="en-US" sz="2300" dirty="0" smtClean="0">
                <a:solidFill>
                  <a:srgbClr val="222366"/>
                </a:solidFill>
                <a:latin typeface="Public Sans"/>
                <a:ea typeface="Public Sans"/>
                <a:cs typeface="Public Sans"/>
                <a:sym typeface="Public Sans"/>
              </a:rPr>
              <a:t>: Cloud </a:t>
            </a:r>
            <a:r>
              <a:rPr lang="en-US" sz="2300" dirty="0">
                <a:solidFill>
                  <a:srgbClr val="222366"/>
                </a:solidFill>
                <a:latin typeface="Public Sans"/>
                <a:ea typeface="Public Sans"/>
                <a:cs typeface="Public Sans"/>
                <a:sym typeface="Public Sans"/>
              </a:rPr>
              <a:t>deployment and containerization (Docker) allow the platform to handle increasing data volumes and user traffic efficiently.</a:t>
            </a:r>
          </a:p>
        </p:txBody>
      </p:sp>
      <p:sp>
        <p:nvSpPr>
          <p:cNvPr id="15" name="TextBox 15"/>
          <p:cNvSpPr txBox="1"/>
          <p:nvPr/>
        </p:nvSpPr>
        <p:spPr>
          <a:xfrm>
            <a:off x="9888259" y="3532102"/>
            <a:ext cx="7605768" cy="6732612"/>
          </a:xfrm>
          <a:prstGeom prst="rect">
            <a:avLst/>
          </a:prstGeom>
        </p:spPr>
        <p:txBody>
          <a:bodyPr wrap="square" lIns="0" tIns="0" rIns="0" bIns="0" rtlCol="0" anchor="t">
            <a:spAutoFit/>
          </a:bodyPr>
          <a:lstStyle/>
          <a:p>
            <a:pPr marL="539750" lvl="1" indent="-269875">
              <a:lnSpc>
                <a:spcPts val="3500"/>
              </a:lnSpc>
              <a:buFont typeface="Arial" panose="020B0604020202020204"/>
              <a:buChar char="•"/>
            </a:pPr>
            <a:r>
              <a:rPr lang="en-US" sz="2300" dirty="0">
                <a:solidFill>
                  <a:srgbClr val="222366"/>
                </a:solidFill>
                <a:latin typeface="Public Sans"/>
                <a:ea typeface="Public Sans"/>
                <a:cs typeface="Public Sans"/>
                <a:sym typeface="Public Sans"/>
              </a:rPr>
              <a:t>Accelerate Biomedical Research: Enables researchers and clinicians to rapidly identify key genes associated with diseases, potentially speeding up biomarker discovery and therapeutic target identification</a:t>
            </a:r>
            <a:r>
              <a:rPr lang="en-US" sz="2300" dirty="0" smtClean="0">
                <a:solidFill>
                  <a:srgbClr val="222366"/>
                </a:solidFill>
                <a:latin typeface="Public Sans"/>
                <a:ea typeface="Public Sans"/>
                <a:cs typeface="Public Sans"/>
                <a:sym typeface="Public Sans"/>
              </a:rPr>
              <a:t>.</a:t>
            </a:r>
          </a:p>
          <a:p>
            <a:pPr marL="539750" lvl="1" indent="-269875">
              <a:lnSpc>
                <a:spcPts val="3500"/>
              </a:lnSpc>
              <a:buFont typeface="Arial" panose="020B0604020202020204"/>
              <a:buChar char="•"/>
            </a:pPr>
            <a:r>
              <a:rPr lang="en-US" sz="2300" dirty="0" smtClean="0">
                <a:solidFill>
                  <a:srgbClr val="222366"/>
                </a:solidFill>
                <a:latin typeface="Public Sans"/>
                <a:ea typeface="Public Sans"/>
                <a:cs typeface="Public Sans"/>
                <a:sym typeface="Public Sans"/>
              </a:rPr>
              <a:t>Lower </a:t>
            </a:r>
            <a:r>
              <a:rPr lang="en-US" sz="2300" dirty="0">
                <a:solidFill>
                  <a:srgbClr val="222366"/>
                </a:solidFill>
                <a:latin typeface="Public Sans"/>
                <a:ea typeface="Public Sans"/>
                <a:cs typeface="Public Sans"/>
                <a:sym typeface="Public Sans"/>
              </a:rPr>
              <a:t>Barrier to Genomic Analysis: Democratizes access to advanced gene expression analysis, empowering smaller labs and clinical practitioners without dedicated bioinformatics teams</a:t>
            </a:r>
            <a:r>
              <a:rPr lang="en-US" sz="2300" dirty="0" smtClean="0">
                <a:solidFill>
                  <a:srgbClr val="222366"/>
                </a:solidFill>
                <a:latin typeface="Public Sans"/>
                <a:ea typeface="Public Sans"/>
                <a:cs typeface="Public Sans"/>
                <a:sym typeface="Public Sans"/>
              </a:rPr>
              <a:t>.</a:t>
            </a:r>
          </a:p>
          <a:p>
            <a:pPr marL="539750" lvl="1" indent="-269875">
              <a:lnSpc>
                <a:spcPts val="3500"/>
              </a:lnSpc>
              <a:buFont typeface="Arial" panose="020B0604020202020204"/>
              <a:buChar char="•"/>
            </a:pPr>
            <a:r>
              <a:rPr lang="en-US" sz="2300" dirty="0" smtClean="0">
                <a:solidFill>
                  <a:srgbClr val="222366"/>
                </a:solidFill>
                <a:latin typeface="Public Sans"/>
                <a:ea typeface="Public Sans"/>
                <a:cs typeface="Public Sans"/>
                <a:sym typeface="Public Sans"/>
              </a:rPr>
              <a:t>Support </a:t>
            </a:r>
            <a:r>
              <a:rPr lang="en-US" sz="2300" dirty="0">
                <a:solidFill>
                  <a:srgbClr val="222366"/>
                </a:solidFill>
                <a:latin typeface="Public Sans"/>
                <a:ea typeface="Public Sans"/>
                <a:cs typeface="Public Sans"/>
                <a:sym typeface="Public Sans"/>
              </a:rPr>
              <a:t>Personalized Medicine: By classifying patient gene expression profiles, the tool can aid in customized treatment strategies in the future</a:t>
            </a:r>
            <a:r>
              <a:rPr lang="en-US" sz="2300" dirty="0" smtClean="0">
                <a:solidFill>
                  <a:srgbClr val="222366"/>
                </a:solidFill>
                <a:latin typeface="Public Sans"/>
                <a:ea typeface="Public Sans"/>
                <a:cs typeface="Public Sans"/>
                <a:sym typeface="Public Sans"/>
              </a:rPr>
              <a:t>.</a:t>
            </a:r>
          </a:p>
          <a:p>
            <a:pPr marL="539750" lvl="1" indent="-269875">
              <a:lnSpc>
                <a:spcPts val="3500"/>
              </a:lnSpc>
              <a:buFont typeface="Arial" panose="020B0604020202020204"/>
              <a:buChar char="•"/>
            </a:pPr>
            <a:r>
              <a:rPr lang="en-US" sz="2300" dirty="0" smtClean="0">
                <a:solidFill>
                  <a:srgbClr val="222366"/>
                </a:solidFill>
                <a:latin typeface="Public Sans"/>
                <a:ea typeface="Public Sans"/>
                <a:cs typeface="Public Sans"/>
                <a:sym typeface="Public Sans"/>
              </a:rPr>
              <a:t>Educational </a:t>
            </a:r>
            <a:r>
              <a:rPr lang="en-US" sz="2300" dirty="0">
                <a:solidFill>
                  <a:srgbClr val="222366"/>
                </a:solidFill>
                <a:latin typeface="Public Sans"/>
                <a:ea typeface="Public Sans"/>
                <a:cs typeface="Public Sans"/>
                <a:sym typeface="Public Sans"/>
              </a:rPr>
              <a:t>Resource: Can be used for training students and researchers in genomics and data science with hands-on interactive experiences.</a:t>
            </a:r>
          </a:p>
        </p:txBody>
      </p:sp>
      <p:sp>
        <p:nvSpPr>
          <p:cNvPr id="16" name="TextBox 16"/>
          <p:cNvSpPr txBox="1"/>
          <p:nvPr/>
        </p:nvSpPr>
        <p:spPr>
          <a:xfrm>
            <a:off x="2044357" y="2612870"/>
            <a:ext cx="6193005" cy="547370"/>
          </a:xfrm>
          <a:prstGeom prst="rect">
            <a:avLst/>
          </a:prstGeom>
        </p:spPr>
        <p:txBody>
          <a:bodyPr lIns="0" tIns="0" rIns="0" bIns="0" rtlCol="0" anchor="t">
            <a:spAutoFit/>
          </a:bodyPr>
          <a:lstStyle/>
          <a:p>
            <a:pPr algn="ctr">
              <a:lnSpc>
                <a:spcPts val="4480"/>
              </a:lnSpc>
            </a:pPr>
            <a:r>
              <a:rPr lang="en-US" sz="3200" b="1" dirty="0" smtClean="0">
                <a:solidFill>
                  <a:srgbClr val="222366"/>
                </a:solidFill>
                <a:latin typeface="Public Sans Heavy"/>
                <a:ea typeface="Public Sans Heavy"/>
                <a:cs typeface="Public Sans Heavy"/>
                <a:sym typeface="Public Sans Heavy"/>
              </a:rPr>
              <a:t>Feasibility:</a:t>
            </a:r>
            <a:endParaRPr lang="en-US" sz="3200" b="1" dirty="0">
              <a:solidFill>
                <a:srgbClr val="222366"/>
              </a:solidFill>
              <a:latin typeface="Public Sans Heavy"/>
              <a:ea typeface="Public Sans Heavy"/>
              <a:cs typeface="Public Sans Heavy"/>
              <a:sym typeface="Public Sans Heavy"/>
            </a:endParaRPr>
          </a:p>
        </p:txBody>
      </p:sp>
      <p:sp>
        <p:nvSpPr>
          <p:cNvPr id="17" name="TextBox 17"/>
          <p:cNvSpPr txBox="1"/>
          <p:nvPr/>
        </p:nvSpPr>
        <p:spPr>
          <a:xfrm>
            <a:off x="252965" y="-84305"/>
            <a:ext cx="17759061" cy="1119345"/>
          </a:xfrm>
          <a:prstGeom prst="rect">
            <a:avLst/>
          </a:prstGeom>
        </p:spPr>
        <p:txBody>
          <a:bodyPr wrap="square" lIns="0" tIns="0" rIns="0" bIns="0" rtlCol="0" anchor="t">
            <a:spAutoFit/>
          </a:bodyPr>
          <a:lstStyle/>
          <a:p>
            <a:pPr algn="r">
              <a:lnSpc>
                <a:spcPts val="9800"/>
              </a:lnSpc>
            </a:pPr>
            <a:r>
              <a:rPr lang="en-US" sz="6000" b="1" dirty="0">
                <a:solidFill>
                  <a:srgbClr val="222366"/>
                </a:solidFill>
                <a:latin typeface="Public Sans Heavy" panose="020B0604020202020204" charset="0"/>
                <a:ea typeface="Brick Sans"/>
                <a:cs typeface="Brick Sans"/>
                <a:sym typeface="Brick Sans"/>
              </a:rPr>
              <a:t>Feasibility and Expected Real-World Impact</a:t>
            </a:r>
          </a:p>
        </p:txBody>
      </p:sp>
      <p:sp>
        <p:nvSpPr>
          <p:cNvPr id="18" name="TextBox 18"/>
          <p:cNvSpPr txBox="1"/>
          <p:nvPr/>
        </p:nvSpPr>
        <p:spPr>
          <a:xfrm>
            <a:off x="10776894" y="2809135"/>
            <a:ext cx="6044903" cy="577081"/>
          </a:xfrm>
          <a:prstGeom prst="rect">
            <a:avLst/>
          </a:prstGeom>
        </p:spPr>
        <p:txBody>
          <a:bodyPr wrap="square" lIns="0" tIns="0" rIns="0" bIns="0" rtlCol="0" anchor="t">
            <a:spAutoFit/>
          </a:bodyPr>
          <a:lstStyle/>
          <a:p>
            <a:pPr algn="ctr">
              <a:lnSpc>
                <a:spcPts val="4480"/>
              </a:lnSpc>
            </a:pPr>
            <a:r>
              <a:rPr lang="en-US" sz="3200" b="1" dirty="0">
                <a:solidFill>
                  <a:srgbClr val="222366"/>
                </a:solidFill>
                <a:latin typeface="Public Sans Heavy"/>
                <a:ea typeface="Public Sans Heavy"/>
                <a:cs typeface="Public Sans Heavy"/>
                <a:sym typeface="Public Sans Heavy"/>
              </a:rPr>
              <a:t>Expected Real-World Impact</a:t>
            </a:r>
          </a:p>
        </p:txBody>
      </p:sp>
    </p:spTree>
    <p:extLst>
      <p:ext uri="{BB962C8B-B14F-4D97-AF65-F5344CB8AC3E}">
        <p14:creationId xmlns:p14="http://schemas.microsoft.com/office/powerpoint/2010/main" val="3983172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1227</Words>
  <Application>Microsoft Office PowerPoint</Application>
  <PresentationFormat>Custom</PresentationFormat>
  <Paragraphs>91</Paragraphs>
  <Slides>10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10</vt:i4>
      </vt:variant>
    </vt:vector>
  </HeadingPairs>
  <TitlesOfParts>
    <vt:vector size="23" baseType="lpstr">
      <vt:lpstr>Gill Sans Ultra Bold</vt:lpstr>
      <vt:lpstr>Calibri</vt:lpstr>
      <vt:lpstr>Public Sans</vt:lpstr>
      <vt:lpstr>Public Sans Heavy</vt:lpstr>
      <vt:lpstr>Arial</vt:lpstr>
      <vt:lpstr>Brick Sans</vt:lpstr>
      <vt:lpstr>Sans Serif Collection</vt:lpstr>
      <vt:lpstr>Solway Bold</vt:lpstr>
      <vt:lpstr>Rockwell Extra Bold</vt:lpstr>
      <vt:lpstr>Radley</vt:lpstr>
      <vt:lpstr>Solway</vt:lpstr>
      <vt:lpstr>Public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Illustrative Innovations in Medicine Presentation</dc:title>
  <dc:creator/>
  <cp:lastModifiedBy>Jaiby Joseph</cp:lastModifiedBy>
  <cp:revision>19</cp:revision>
  <dcterms:created xsi:type="dcterms:W3CDTF">2006-08-16T00:00:00Z</dcterms:created>
  <dcterms:modified xsi:type="dcterms:W3CDTF">2025-05-30T19:57:17Z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76527172B38C4C89BA8AFF97186F4F23_12</vt:lpwstr>
  </property>
  <property fmtid="{D5CDD505-2E9C-101B-9397-08002B2CF9AE}" pid="3" name="KSOProductBuildVer">
    <vt:lpwstr>1033-12.2.0.21179</vt:lpwstr>
  </property>
</Properties>
</file>